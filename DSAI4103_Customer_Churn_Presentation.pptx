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73" r:id="rId15"/>
    <p:sldId id="274" r:id="rId16"/>
    <p:sldId id="26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34" d="100"/>
          <a:sy n="134" d="100"/>
        </p:scale>
        <p:origin x="420"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8396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DA27-B8CE-6461-6AA8-2052A5DCD0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417B3A-DA8A-BA7A-1173-23E7EE85ED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07CCE-7487-7FD8-91E9-C4BE0EC9C8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78BB1B-9DD3-B9AA-635D-2A665B44E52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704588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F7631-B05B-852D-1817-647CF04EE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D8998-7C30-A6DF-9CF4-508CFB3BF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F3184-3E03-D8C8-20F5-F2CEDB069C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448C78-69B7-49BB-7619-10EB666204B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84315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5E946-D6F9-57F0-7DCB-F49C254AD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74C27-762D-E171-0C6E-E01F6018C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9EA1C-5B89-2611-39AC-101DFC2AC8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F507CC-4D17-53D0-F02F-E91865F9A63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8937685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2E75B6">
              <a:alpha val="45000"/>
            </a:srgbClr>
          </a:solidFill>
          <a:ln w="12700">
            <a:solidFill>
              <a:srgbClr val="2E75B6">
                <a:alpha val="45000"/>
              </a:srgbClr>
            </a:solidFill>
            <a:prstDash val="solid"/>
          </a:ln>
        </p:spPr>
        <p:txBody>
          <a:bodyPr/>
          <a:lstStyle/>
          <a:p>
            <a:endParaRPr lang="en-US"/>
          </a:p>
        </p:txBody>
      </p:sp>
      <p:sp>
        <p:nvSpPr>
          <p:cNvPr id="3" name="Shape 1"/>
          <p:cNvSpPr/>
          <p:nvPr/>
        </p:nvSpPr>
        <p:spPr>
          <a:xfrm>
            <a:off x="6766560" y="0"/>
            <a:ext cx="2377440" cy="5143500"/>
          </a:xfrm>
          <a:prstGeom prst="rect">
            <a:avLst/>
          </a:prstGeom>
          <a:solidFill>
            <a:srgbClr val="2E75B6">
              <a:alpha val="30000"/>
            </a:srgbClr>
          </a:solidFill>
          <a:ln w="12700">
            <a:solidFill>
              <a:srgbClr val="2E75B6">
                <a:alpha val="30000"/>
              </a:srgbClr>
            </a:solidFill>
            <a:prstDash val="solid"/>
          </a:ln>
        </p:spPr>
        <p:txBody>
          <a:bodyPr/>
          <a:lstStyle/>
          <a:p>
            <a:endParaRPr lang="en-US"/>
          </a:p>
        </p:txBody>
      </p:sp>
      <p:sp>
        <p:nvSpPr>
          <p:cNvPr id="4" name="Text 2"/>
          <p:cNvSpPr/>
          <p:nvPr/>
        </p:nvSpPr>
        <p:spPr>
          <a:xfrm>
            <a:off x="548640" y="960120"/>
            <a:ext cx="5486400" cy="320040"/>
          </a:xfrm>
          <a:prstGeom prst="rect">
            <a:avLst/>
          </a:prstGeom>
          <a:noFill/>
          <a:ln/>
        </p:spPr>
        <p:txBody>
          <a:bodyPr wrap="square" lIns="0" tIns="0" rIns="0" bIns="0" rtlCol="0" anchor="ctr"/>
          <a:lstStyle/>
          <a:p>
            <a:pPr marL="0" indent="0">
              <a:buNone/>
            </a:pPr>
            <a:r>
              <a:rPr lang="en-US" sz="1100" kern="0" spc="200" dirty="0">
                <a:solidFill>
                  <a:srgbClr val="7EB8E8"/>
                </a:solidFill>
                <a:latin typeface="Calibri" pitchFamily="34" charset="0"/>
                <a:ea typeface="Calibri" pitchFamily="34" charset="-122"/>
                <a:cs typeface="Calibri" pitchFamily="34" charset="-120"/>
              </a:rPr>
              <a:t>DSAI 4103  ·  Business Analytics  ·  Course Project</a:t>
            </a:r>
            <a:endParaRPr lang="en-US" sz="1100" dirty="0"/>
          </a:p>
        </p:txBody>
      </p:sp>
      <p:sp>
        <p:nvSpPr>
          <p:cNvPr id="5" name="Text 3"/>
          <p:cNvSpPr/>
          <p:nvPr/>
        </p:nvSpPr>
        <p:spPr>
          <a:xfrm>
            <a:off x="548640" y="1325880"/>
            <a:ext cx="5943600" cy="82296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Customer Churn</a:t>
            </a:r>
            <a:endParaRPr lang="en-US" sz="4600" dirty="0"/>
          </a:p>
        </p:txBody>
      </p:sp>
      <p:sp>
        <p:nvSpPr>
          <p:cNvPr id="6" name="Text 4"/>
          <p:cNvSpPr/>
          <p:nvPr/>
        </p:nvSpPr>
        <p:spPr>
          <a:xfrm>
            <a:off x="548640" y="2103120"/>
            <a:ext cx="5943600" cy="685800"/>
          </a:xfrm>
          <a:prstGeom prst="rect">
            <a:avLst/>
          </a:prstGeom>
          <a:noFill/>
          <a:ln/>
        </p:spPr>
        <p:txBody>
          <a:bodyPr wrap="square" lIns="0" tIns="0" rIns="0" bIns="0" rtlCol="0" anchor="ctr"/>
          <a:lstStyle/>
          <a:p>
            <a:pPr marL="0" indent="0">
              <a:buNone/>
            </a:pPr>
            <a:r>
              <a:rPr lang="en-US" sz="4600" b="1" dirty="0">
                <a:solidFill>
                  <a:srgbClr val="7EB8E8"/>
                </a:solidFill>
                <a:latin typeface="Calibri" pitchFamily="34" charset="0"/>
                <a:ea typeface="Calibri" pitchFamily="34" charset="-122"/>
                <a:cs typeface="Calibri" pitchFamily="34" charset="-120"/>
              </a:rPr>
              <a:t>Prediction</a:t>
            </a:r>
            <a:endParaRPr lang="en-US" sz="4600" dirty="0"/>
          </a:p>
        </p:txBody>
      </p:sp>
      <p:sp>
        <p:nvSpPr>
          <p:cNvPr id="7" name="Text 5"/>
          <p:cNvSpPr/>
          <p:nvPr/>
        </p:nvSpPr>
        <p:spPr>
          <a:xfrm>
            <a:off x="548640" y="2880360"/>
            <a:ext cx="5669280" cy="365760"/>
          </a:xfrm>
          <a:prstGeom prst="rect">
            <a:avLst/>
          </a:prstGeom>
          <a:noFill/>
          <a:ln/>
        </p:spPr>
        <p:txBody>
          <a:bodyPr wrap="square" lIns="0" tIns="0" rIns="0" bIns="0" rtlCol="0" anchor="ctr"/>
          <a:lstStyle/>
          <a:p>
            <a:pPr marL="0" indent="0">
              <a:buNone/>
            </a:pPr>
            <a:r>
              <a:rPr lang="en-US" sz="1350" i="1" dirty="0">
                <a:solidFill>
                  <a:srgbClr val="CADCFC"/>
                </a:solidFill>
                <a:latin typeface="Calibri" pitchFamily="34" charset="0"/>
                <a:ea typeface="Calibri" pitchFamily="34" charset="-122"/>
                <a:cs typeface="Calibri" pitchFamily="34" charset="-120"/>
              </a:rPr>
              <a:t>End-to-End Business Analytics &amp; Machine Learning Pipeline</a:t>
            </a:r>
            <a:endParaRPr lang="en-US" sz="1350" dirty="0"/>
          </a:p>
        </p:txBody>
      </p:sp>
      <p:sp>
        <p:nvSpPr>
          <p:cNvPr id="8" name="Shape 6"/>
          <p:cNvSpPr/>
          <p:nvPr/>
        </p:nvSpPr>
        <p:spPr>
          <a:xfrm>
            <a:off x="548640" y="3328416"/>
            <a:ext cx="3200400" cy="36576"/>
          </a:xfrm>
          <a:prstGeom prst="rect">
            <a:avLst/>
          </a:prstGeom>
          <a:solidFill>
            <a:srgbClr val="7EB8E8"/>
          </a:solidFill>
          <a:ln w="12700">
            <a:solidFill>
              <a:srgbClr val="7EB8E8"/>
            </a:solidFill>
            <a:prstDash val="solid"/>
          </a:ln>
        </p:spPr>
        <p:txBody>
          <a:bodyPr/>
          <a:lstStyle/>
          <a:p>
            <a:endParaRPr lang="en-US"/>
          </a:p>
        </p:txBody>
      </p:sp>
      <p:sp>
        <p:nvSpPr>
          <p:cNvPr id="9" name="Text 7"/>
          <p:cNvSpPr/>
          <p:nvPr/>
        </p:nvSpPr>
        <p:spPr>
          <a:xfrm>
            <a:off x="548640" y="3474720"/>
            <a:ext cx="5669280" cy="1280160"/>
          </a:xfrm>
          <a:prstGeom prst="rect">
            <a:avLst/>
          </a:prstGeom>
          <a:noFill/>
          <a:ln/>
        </p:spPr>
        <p:txBody>
          <a:bodyPr wrap="square" lIns="0" tIns="0" rIns="0" bIns="0" rtlCol="0" anchor="t"/>
          <a:lstStyle/>
          <a:p>
            <a:pPr marL="0" indent="0">
              <a:buNone/>
            </a:pPr>
            <a:r>
              <a:rPr lang="en-US" sz="1150" b="1" dirty="0">
                <a:solidFill>
                  <a:srgbClr val="CADCFC"/>
                </a:solidFill>
                <a:latin typeface="Calibri" pitchFamily="34" charset="0"/>
                <a:ea typeface="Calibri" pitchFamily="34" charset="-122"/>
                <a:cs typeface="Calibri" pitchFamily="34" charset="-120"/>
              </a:rPr>
              <a:t>Domain: </a:t>
            </a:r>
            <a:r>
              <a:rPr lang="en-US" sz="1150" dirty="0">
                <a:solidFill>
                  <a:srgbClr val="A8C4E0"/>
                </a:solidFill>
                <a:latin typeface="Calibri" pitchFamily="34" charset="0"/>
                <a:ea typeface="Calibri" pitchFamily="34" charset="-122"/>
                <a:cs typeface="Calibri" pitchFamily="34" charset="-120"/>
              </a:rPr>
              <a:t>Marketing / Customer Analytics
</a:t>
            </a:r>
            <a:r>
              <a:rPr lang="en-US" sz="1150" b="1" dirty="0">
                <a:solidFill>
                  <a:srgbClr val="CADCFC"/>
                </a:solidFill>
                <a:latin typeface="Calibri" pitchFamily="34" charset="0"/>
                <a:ea typeface="Calibri" pitchFamily="34" charset="-122"/>
                <a:cs typeface="Calibri" pitchFamily="34" charset="-120"/>
              </a:rPr>
              <a:t>Model: </a:t>
            </a:r>
            <a:r>
              <a:rPr lang="en-US" sz="1150" dirty="0">
                <a:solidFill>
                  <a:srgbClr val="A8C4E0"/>
                </a:solidFill>
                <a:latin typeface="Calibri" pitchFamily="34" charset="0"/>
                <a:ea typeface="Calibri" pitchFamily="34" charset="-122"/>
                <a:cs typeface="Calibri" pitchFamily="34" charset="-120"/>
              </a:rPr>
              <a:t>Stacking Ensemble </a:t>
            </a:r>
          </a:p>
          <a:p>
            <a:pPr marL="0" indent="0">
              <a:buNone/>
            </a:pPr>
            <a:endParaRPr lang="en-US" sz="1150" dirty="0">
              <a:solidFill>
                <a:srgbClr val="A8C4E0"/>
              </a:solidFill>
              <a:latin typeface="Calibri" pitchFamily="34" charset="0"/>
              <a:ea typeface="Calibri" pitchFamily="34" charset="-122"/>
              <a:cs typeface="Calibri" pitchFamily="34" charset="-120"/>
            </a:endParaRPr>
          </a:p>
          <a:p>
            <a:pPr marL="0" indent="0">
              <a:buNone/>
            </a:pPr>
            <a:endParaRPr lang="en-US" sz="800" dirty="0">
              <a:solidFill>
                <a:srgbClr val="A8C4E0"/>
              </a:solidFill>
              <a:latin typeface="Calibri" pitchFamily="34" charset="0"/>
              <a:ea typeface="Calibri" pitchFamily="34" charset="-122"/>
              <a:cs typeface="Calibri" pitchFamily="34" charset="-120"/>
            </a:endParaRPr>
          </a:p>
          <a:p>
            <a:pPr marL="0" indent="0">
              <a:buNone/>
            </a:pPr>
            <a:r>
              <a:rPr lang="en-US" dirty="0">
                <a:solidFill>
                  <a:srgbClr val="A8C4E0"/>
                </a:solidFill>
                <a:latin typeface="Calibri" pitchFamily="34" charset="0"/>
                <a:ea typeface="Calibri" pitchFamily="34" charset="-122"/>
                <a:cs typeface="Calibri" pitchFamily="34" charset="-120"/>
              </a:rPr>
              <a:t>PRESENTED BY</a:t>
            </a:r>
          </a:p>
          <a:p>
            <a:pPr marL="0" indent="0">
              <a:buNone/>
            </a:pPr>
            <a:r>
              <a:rPr lang="en-US" dirty="0">
                <a:solidFill>
                  <a:srgbClr val="A8C4E0"/>
                </a:solidFill>
                <a:latin typeface="Calibri" pitchFamily="34" charset="0"/>
                <a:ea typeface="Calibri" pitchFamily="34" charset="-122"/>
                <a:cs typeface="Calibri" pitchFamily="34" charset="-120"/>
              </a:rPr>
              <a:t>Momen Ibrahim - 60096897</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Agenda</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Presentation Outline</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10 sections covering every project requirement</a:t>
            </a:r>
            <a:endParaRPr lang="en-US" sz="1300" dirty="0"/>
          </a:p>
        </p:txBody>
      </p:sp>
      <p:sp>
        <p:nvSpPr>
          <p:cNvPr id="9" name="Shape 7"/>
          <p:cNvSpPr/>
          <p:nvPr/>
        </p:nvSpPr>
        <p:spPr>
          <a:xfrm>
            <a:off x="274320" y="1417320"/>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10" name="Shape 8"/>
          <p:cNvSpPr/>
          <p:nvPr/>
        </p:nvSpPr>
        <p:spPr>
          <a:xfrm>
            <a:off x="274320" y="1417320"/>
            <a:ext cx="347472" cy="329184"/>
          </a:xfrm>
          <a:prstGeom prst="rect">
            <a:avLst/>
          </a:prstGeom>
          <a:solidFill>
            <a:srgbClr val="2E75B6"/>
          </a:solidFill>
          <a:ln w="12700">
            <a:solidFill>
              <a:srgbClr val="2E75B6"/>
            </a:solidFill>
            <a:prstDash val="solid"/>
          </a:ln>
        </p:spPr>
        <p:txBody>
          <a:bodyPr/>
          <a:lstStyle/>
          <a:p>
            <a:endParaRPr lang="en-US"/>
          </a:p>
        </p:txBody>
      </p:sp>
      <p:sp>
        <p:nvSpPr>
          <p:cNvPr id="11" name="Text 9"/>
          <p:cNvSpPr/>
          <p:nvPr/>
        </p:nvSpPr>
        <p:spPr>
          <a:xfrm>
            <a:off x="274320" y="1417320"/>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12" name="Text 10"/>
          <p:cNvSpPr/>
          <p:nvPr/>
        </p:nvSpPr>
        <p:spPr>
          <a:xfrm>
            <a:off x="676656" y="1435608"/>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Business Problem Definition</a:t>
            </a:r>
            <a:endParaRPr lang="en-US" sz="1050" dirty="0"/>
          </a:p>
        </p:txBody>
      </p:sp>
      <p:sp>
        <p:nvSpPr>
          <p:cNvPr id="13" name="Text 11"/>
          <p:cNvSpPr/>
          <p:nvPr/>
        </p:nvSpPr>
        <p:spPr>
          <a:xfrm>
            <a:off x="676656" y="1581912"/>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Domain, objectives &amp; success metrics</a:t>
            </a:r>
            <a:endParaRPr lang="en-US" sz="850" dirty="0"/>
          </a:p>
        </p:txBody>
      </p:sp>
      <p:sp>
        <p:nvSpPr>
          <p:cNvPr id="14" name="Shape 12"/>
          <p:cNvSpPr/>
          <p:nvPr/>
        </p:nvSpPr>
        <p:spPr>
          <a:xfrm>
            <a:off x="274320" y="1819656"/>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15" name="Shape 13"/>
          <p:cNvSpPr/>
          <p:nvPr/>
        </p:nvSpPr>
        <p:spPr>
          <a:xfrm>
            <a:off x="274320" y="1819656"/>
            <a:ext cx="347472" cy="329184"/>
          </a:xfrm>
          <a:prstGeom prst="rect">
            <a:avLst/>
          </a:prstGeom>
          <a:solidFill>
            <a:srgbClr val="2E75B6"/>
          </a:solidFill>
          <a:ln w="12700">
            <a:solidFill>
              <a:srgbClr val="2E75B6"/>
            </a:solidFill>
            <a:prstDash val="solid"/>
          </a:ln>
        </p:spPr>
        <p:txBody>
          <a:bodyPr/>
          <a:lstStyle/>
          <a:p>
            <a:endParaRPr lang="en-US"/>
          </a:p>
        </p:txBody>
      </p:sp>
      <p:sp>
        <p:nvSpPr>
          <p:cNvPr id="16" name="Text 14"/>
          <p:cNvSpPr/>
          <p:nvPr/>
        </p:nvSpPr>
        <p:spPr>
          <a:xfrm>
            <a:off x="274320" y="1819656"/>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7" name="Text 15"/>
          <p:cNvSpPr/>
          <p:nvPr/>
        </p:nvSpPr>
        <p:spPr>
          <a:xfrm>
            <a:off x="676656" y="1837944"/>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Dataset Acquisition</a:t>
            </a:r>
            <a:endParaRPr lang="en-US" sz="1050" dirty="0"/>
          </a:p>
        </p:txBody>
      </p:sp>
      <p:sp>
        <p:nvSpPr>
          <p:cNvPr id="18" name="Text 16"/>
          <p:cNvSpPr/>
          <p:nvPr/>
        </p:nvSpPr>
        <p:spPr>
          <a:xfrm>
            <a:off x="676656" y="1984248"/>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3 files · 7,043 customers · 19 columns</a:t>
            </a:r>
            <a:endParaRPr lang="en-US" sz="850" dirty="0"/>
          </a:p>
        </p:txBody>
      </p:sp>
      <p:sp>
        <p:nvSpPr>
          <p:cNvPr id="19" name="Shape 17"/>
          <p:cNvSpPr/>
          <p:nvPr/>
        </p:nvSpPr>
        <p:spPr>
          <a:xfrm>
            <a:off x="274320" y="2221992"/>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20" name="Shape 18"/>
          <p:cNvSpPr/>
          <p:nvPr/>
        </p:nvSpPr>
        <p:spPr>
          <a:xfrm>
            <a:off x="274320" y="2221992"/>
            <a:ext cx="347472" cy="329184"/>
          </a:xfrm>
          <a:prstGeom prst="rect">
            <a:avLst/>
          </a:prstGeom>
          <a:solidFill>
            <a:srgbClr val="2E75B6"/>
          </a:solidFill>
          <a:ln w="12700">
            <a:solidFill>
              <a:srgbClr val="2E75B6"/>
            </a:solidFill>
            <a:prstDash val="solid"/>
          </a:ln>
        </p:spPr>
        <p:txBody>
          <a:bodyPr/>
          <a:lstStyle/>
          <a:p>
            <a:endParaRPr lang="en-US"/>
          </a:p>
        </p:txBody>
      </p:sp>
      <p:sp>
        <p:nvSpPr>
          <p:cNvPr id="21" name="Text 19"/>
          <p:cNvSpPr/>
          <p:nvPr/>
        </p:nvSpPr>
        <p:spPr>
          <a:xfrm>
            <a:off x="274320" y="2221992"/>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22" name="Text 20"/>
          <p:cNvSpPr/>
          <p:nvPr/>
        </p:nvSpPr>
        <p:spPr>
          <a:xfrm>
            <a:off x="676656" y="2240280"/>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Data Loading &amp; Merging</a:t>
            </a:r>
            <a:endParaRPr lang="en-US" sz="1050" dirty="0"/>
          </a:p>
        </p:txBody>
      </p:sp>
      <p:sp>
        <p:nvSpPr>
          <p:cNvPr id="23" name="Text 21"/>
          <p:cNvSpPr/>
          <p:nvPr/>
        </p:nvSpPr>
        <p:spPr>
          <a:xfrm>
            <a:off x="676656" y="2386584"/>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Join strategy &amp; quality checks</a:t>
            </a:r>
            <a:endParaRPr lang="en-US" sz="850" dirty="0"/>
          </a:p>
        </p:txBody>
      </p:sp>
      <p:sp>
        <p:nvSpPr>
          <p:cNvPr id="24" name="Shape 22"/>
          <p:cNvSpPr/>
          <p:nvPr/>
        </p:nvSpPr>
        <p:spPr>
          <a:xfrm>
            <a:off x="274320" y="2624328"/>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25" name="Shape 23"/>
          <p:cNvSpPr/>
          <p:nvPr/>
        </p:nvSpPr>
        <p:spPr>
          <a:xfrm>
            <a:off x="274320" y="2624328"/>
            <a:ext cx="347472" cy="329184"/>
          </a:xfrm>
          <a:prstGeom prst="rect">
            <a:avLst/>
          </a:prstGeom>
          <a:solidFill>
            <a:srgbClr val="2E75B6"/>
          </a:solidFill>
          <a:ln w="12700">
            <a:solidFill>
              <a:srgbClr val="2E75B6"/>
            </a:solidFill>
            <a:prstDash val="solid"/>
          </a:ln>
        </p:spPr>
        <p:txBody>
          <a:bodyPr/>
          <a:lstStyle/>
          <a:p>
            <a:endParaRPr lang="en-US"/>
          </a:p>
        </p:txBody>
      </p:sp>
      <p:sp>
        <p:nvSpPr>
          <p:cNvPr id="26" name="Text 24"/>
          <p:cNvSpPr/>
          <p:nvPr/>
        </p:nvSpPr>
        <p:spPr>
          <a:xfrm>
            <a:off x="274320" y="2624328"/>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7" name="Text 25"/>
          <p:cNvSpPr/>
          <p:nvPr/>
        </p:nvSpPr>
        <p:spPr>
          <a:xfrm>
            <a:off x="676656" y="2642616"/>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Exploratory Data Analysis (EDA)</a:t>
            </a:r>
            <a:endParaRPr lang="en-US" sz="1050" dirty="0"/>
          </a:p>
        </p:txBody>
      </p:sp>
      <p:sp>
        <p:nvSpPr>
          <p:cNvPr id="28" name="Text 26"/>
          <p:cNvSpPr/>
          <p:nvPr/>
        </p:nvSpPr>
        <p:spPr>
          <a:xfrm>
            <a:off x="676656" y="2788920"/>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5 key visualizations &amp; insights</a:t>
            </a:r>
            <a:endParaRPr lang="en-US" sz="850" dirty="0"/>
          </a:p>
        </p:txBody>
      </p:sp>
      <p:sp>
        <p:nvSpPr>
          <p:cNvPr id="29" name="Shape 27"/>
          <p:cNvSpPr/>
          <p:nvPr/>
        </p:nvSpPr>
        <p:spPr>
          <a:xfrm>
            <a:off x="274320" y="3026664"/>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30" name="Shape 28"/>
          <p:cNvSpPr/>
          <p:nvPr/>
        </p:nvSpPr>
        <p:spPr>
          <a:xfrm>
            <a:off x="274320" y="3026664"/>
            <a:ext cx="347472" cy="329184"/>
          </a:xfrm>
          <a:prstGeom prst="rect">
            <a:avLst/>
          </a:prstGeom>
          <a:solidFill>
            <a:srgbClr val="2E75B6"/>
          </a:solidFill>
          <a:ln w="12700">
            <a:solidFill>
              <a:srgbClr val="2E75B6"/>
            </a:solidFill>
            <a:prstDash val="solid"/>
          </a:ln>
        </p:spPr>
        <p:txBody>
          <a:bodyPr/>
          <a:lstStyle/>
          <a:p>
            <a:endParaRPr lang="en-US"/>
          </a:p>
        </p:txBody>
      </p:sp>
      <p:sp>
        <p:nvSpPr>
          <p:cNvPr id="31" name="Text 29"/>
          <p:cNvSpPr/>
          <p:nvPr/>
        </p:nvSpPr>
        <p:spPr>
          <a:xfrm>
            <a:off x="274320" y="3026664"/>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32" name="Text 30"/>
          <p:cNvSpPr/>
          <p:nvPr/>
        </p:nvSpPr>
        <p:spPr>
          <a:xfrm>
            <a:off x="676656" y="3044952"/>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Preprocessing &amp; Feature Engineering</a:t>
            </a:r>
            <a:endParaRPr lang="en-US" sz="1050" dirty="0"/>
          </a:p>
        </p:txBody>
      </p:sp>
      <p:sp>
        <p:nvSpPr>
          <p:cNvPr id="33" name="Text 31"/>
          <p:cNvSpPr/>
          <p:nvPr/>
        </p:nvSpPr>
        <p:spPr>
          <a:xfrm>
            <a:off x="676656" y="3191256"/>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Encoding, scaling &amp; 5 new features</a:t>
            </a:r>
            <a:endParaRPr lang="en-US" sz="850" dirty="0"/>
          </a:p>
        </p:txBody>
      </p:sp>
      <p:sp>
        <p:nvSpPr>
          <p:cNvPr id="34" name="Shape 32"/>
          <p:cNvSpPr/>
          <p:nvPr/>
        </p:nvSpPr>
        <p:spPr>
          <a:xfrm>
            <a:off x="4754880" y="1417320"/>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35" name="Shape 33"/>
          <p:cNvSpPr/>
          <p:nvPr/>
        </p:nvSpPr>
        <p:spPr>
          <a:xfrm>
            <a:off x="4754880" y="1417320"/>
            <a:ext cx="347472" cy="329184"/>
          </a:xfrm>
          <a:prstGeom prst="rect">
            <a:avLst/>
          </a:prstGeom>
          <a:solidFill>
            <a:srgbClr val="2E75B6"/>
          </a:solidFill>
          <a:ln w="12700">
            <a:solidFill>
              <a:srgbClr val="2E75B6"/>
            </a:solidFill>
            <a:prstDash val="solid"/>
          </a:ln>
        </p:spPr>
        <p:txBody>
          <a:bodyPr/>
          <a:lstStyle/>
          <a:p>
            <a:endParaRPr lang="en-US"/>
          </a:p>
        </p:txBody>
      </p:sp>
      <p:sp>
        <p:nvSpPr>
          <p:cNvPr id="36" name="Text 34"/>
          <p:cNvSpPr/>
          <p:nvPr/>
        </p:nvSpPr>
        <p:spPr>
          <a:xfrm>
            <a:off x="4754880" y="1417320"/>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37" name="Text 35"/>
          <p:cNvSpPr/>
          <p:nvPr/>
        </p:nvSpPr>
        <p:spPr>
          <a:xfrm>
            <a:off x="5157216" y="1435608"/>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Predictive Model — AutoML / Ensemble</a:t>
            </a:r>
            <a:endParaRPr lang="en-US" sz="1050" dirty="0"/>
          </a:p>
        </p:txBody>
      </p:sp>
      <p:sp>
        <p:nvSpPr>
          <p:cNvPr id="38" name="Text 36"/>
          <p:cNvSpPr/>
          <p:nvPr/>
        </p:nvSpPr>
        <p:spPr>
          <a:xfrm>
            <a:off x="5157216" y="1581912"/>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4 candidates + Stacking Classifier</a:t>
            </a:r>
            <a:endParaRPr lang="en-US" sz="850" dirty="0"/>
          </a:p>
        </p:txBody>
      </p:sp>
      <p:sp>
        <p:nvSpPr>
          <p:cNvPr id="39" name="Shape 37"/>
          <p:cNvSpPr/>
          <p:nvPr/>
        </p:nvSpPr>
        <p:spPr>
          <a:xfrm>
            <a:off x="4754880" y="1819656"/>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40" name="Shape 38"/>
          <p:cNvSpPr/>
          <p:nvPr/>
        </p:nvSpPr>
        <p:spPr>
          <a:xfrm>
            <a:off x="4754880" y="1819656"/>
            <a:ext cx="347472" cy="329184"/>
          </a:xfrm>
          <a:prstGeom prst="rect">
            <a:avLst/>
          </a:prstGeom>
          <a:solidFill>
            <a:srgbClr val="2E75B6"/>
          </a:solidFill>
          <a:ln w="12700">
            <a:solidFill>
              <a:srgbClr val="2E75B6"/>
            </a:solidFill>
            <a:prstDash val="solid"/>
          </a:ln>
        </p:spPr>
        <p:txBody>
          <a:bodyPr/>
          <a:lstStyle/>
          <a:p>
            <a:endParaRPr lang="en-US"/>
          </a:p>
        </p:txBody>
      </p:sp>
      <p:sp>
        <p:nvSpPr>
          <p:cNvPr id="41" name="Text 39"/>
          <p:cNvSpPr/>
          <p:nvPr/>
        </p:nvSpPr>
        <p:spPr>
          <a:xfrm>
            <a:off x="4754880" y="1819656"/>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42" name="Text 40"/>
          <p:cNvSpPr/>
          <p:nvPr/>
        </p:nvSpPr>
        <p:spPr>
          <a:xfrm>
            <a:off x="5157216" y="1837944"/>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Model Explainability (SHAP-style)</a:t>
            </a:r>
            <a:endParaRPr lang="en-US" sz="1050" dirty="0"/>
          </a:p>
        </p:txBody>
      </p:sp>
      <p:sp>
        <p:nvSpPr>
          <p:cNvPr id="43" name="Text 41"/>
          <p:cNvSpPr/>
          <p:nvPr/>
        </p:nvSpPr>
        <p:spPr>
          <a:xfrm>
            <a:off x="5157216" y="1984248"/>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Global importance &amp; individual breakdown</a:t>
            </a:r>
            <a:endParaRPr lang="en-US" sz="850" dirty="0"/>
          </a:p>
        </p:txBody>
      </p:sp>
      <p:sp>
        <p:nvSpPr>
          <p:cNvPr id="44" name="Shape 42"/>
          <p:cNvSpPr/>
          <p:nvPr/>
        </p:nvSpPr>
        <p:spPr>
          <a:xfrm>
            <a:off x="4754880" y="2221992"/>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45" name="Shape 43"/>
          <p:cNvSpPr/>
          <p:nvPr/>
        </p:nvSpPr>
        <p:spPr>
          <a:xfrm>
            <a:off x="4754880" y="2221992"/>
            <a:ext cx="347472" cy="329184"/>
          </a:xfrm>
          <a:prstGeom prst="rect">
            <a:avLst/>
          </a:prstGeom>
          <a:solidFill>
            <a:srgbClr val="2E75B6"/>
          </a:solidFill>
          <a:ln w="12700">
            <a:solidFill>
              <a:srgbClr val="2E75B6"/>
            </a:solidFill>
            <a:prstDash val="solid"/>
          </a:ln>
        </p:spPr>
        <p:txBody>
          <a:bodyPr/>
          <a:lstStyle/>
          <a:p>
            <a:endParaRPr lang="en-US"/>
          </a:p>
        </p:txBody>
      </p:sp>
      <p:sp>
        <p:nvSpPr>
          <p:cNvPr id="46" name="Text 44"/>
          <p:cNvSpPr/>
          <p:nvPr/>
        </p:nvSpPr>
        <p:spPr>
          <a:xfrm>
            <a:off x="4754880" y="2221992"/>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47" name="Text 45"/>
          <p:cNvSpPr/>
          <p:nvPr/>
        </p:nvSpPr>
        <p:spPr>
          <a:xfrm>
            <a:off x="5157216" y="2240280"/>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Bias Analysis &amp; Fairness</a:t>
            </a:r>
            <a:endParaRPr lang="en-US" sz="1050" dirty="0"/>
          </a:p>
        </p:txBody>
      </p:sp>
      <p:sp>
        <p:nvSpPr>
          <p:cNvPr id="48" name="Text 46"/>
          <p:cNvSpPr/>
          <p:nvPr/>
        </p:nvSpPr>
        <p:spPr>
          <a:xfrm>
            <a:off x="5157216" y="2386584"/>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Gender, Senior &amp; Age Group parity</a:t>
            </a:r>
            <a:endParaRPr lang="en-US" sz="850" dirty="0"/>
          </a:p>
        </p:txBody>
      </p:sp>
      <p:sp>
        <p:nvSpPr>
          <p:cNvPr id="49" name="Shape 47"/>
          <p:cNvSpPr/>
          <p:nvPr/>
        </p:nvSpPr>
        <p:spPr>
          <a:xfrm>
            <a:off x="4754880" y="2624328"/>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50" name="Shape 48"/>
          <p:cNvSpPr/>
          <p:nvPr/>
        </p:nvSpPr>
        <p:spPr>
          <a:xfrm>
            <a:off x="4754880" y="2624328"/>
            <a:ext cx="347472" cy="329184"/>
          </a:xfrm>
          <a:prstGeom prst="rect">
            <a:avLst/>
          </a:prstGeom>
          <a:solidFill>
            <a:srgbClr val="2E75B6"/>
          </a:solidFill>
          <a:ln w="12700">
            <a:solidFill>
              <a:srgbClr val="2E75B6"/>
            </a:solidFill>
            <a:prstDash val="solid"/>
          </a:ln>
        </p:spPr>
        <p:txBody>
          <a:bodyPr/>
          <a:lstStyle/>
          <a:p>
            <a:endParaRPr lang="en-US"/>
          </a:p>
        </p:txBody>
      </p:sp>
      <p:sp>
        <p:nvSpPr>
          <p:cNvPr id="51" name="Text 49"/>
          <p:cNvSpPr/>
          <p:nvPr/>
        </p:nvSpPr>
        <p:spPr>
          <a:xfrm>
            <a:off x="4754880" y="2624328"/>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52" name="Text 50"/>
          <p:cNvSpPr/>
          <p:nvPr/>
        </p:nvSpPr>
        <p:spPr>
          <a:xfrm>
            <a:off x="5157216" y="2642616"/>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Deployment Preparation</a:t>
            </a:r>
            <a:endParaRPr lang="en-US" sz="1050" dirty="0"/>
          </a:p>
        </p:txBody>
      </p:sp>
      <p:sp>
        <p:nvSpPr>
          <p:cNvPr id="53" name="Text 51"/>
          <p:cNvSpPr/>
          <p:nvPr/>
        </p:nvSpPr>
        <p:spPr>
          <a:xfrm>
            <a:off x="5157216" y="2788920"/>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Packaged model + scoring script</a:t>
            </a:r>
            <a:endParaRPr lang="en-US" sz="850" dirty="0"/>
          </a:p>
        </p:txBody>
      </p:sp>
      <p:sp>
        <p:nvSpPr>
          <p:cNvPr id="54" name="Shape 52"/>
          <p:cNvSpPr/>
          <p:nvPr/>
        </p:nvSpPr>
        <p:spPr>
          <a:xfrm>
            <a:off x="4754880" y="3026664"/>
            <a:ext cx="4114800" cy="329184"/>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55" name="Shape 53"/>
          <p:cNvSpPr/>
          <p:nvPr/>
        </p:nvSpPr>
        <p:spPr>
          <a:xfrm>
            <a:off x="4754880" y="3026664"/>
            <a:ext cx="347472" cy="329184"/>
          </a:xfrm>
          <a:prstGeom prst="rect">
            <a:avLst/>
          </a:prstGeom>
          <a:solidFill>
            <a:srgbClr val="2E75B6"/>
          </a:solidFill>
          <a:ln w="12700">
            <a:solidFill>
              <a:srgbClr val="2E75B6"/>
            </a:solidFill>
            <a:prstDash val="solid"/>
          </a:ln>
        </p:spPr>
        <p:txBody>
          <a:bodyPr/>
          <a:lstStyle/>
          <a:p>
            <a:endParaRPr lang="en-US"/>
          </a:p>
        </p:txBody>
      </p:sp>
      <p:sp>
        <p:nvSpPr>
          <p:cNvPr id="56" name="Text 54"/>
          <p:cNvSpPr/>
          <p:nvPr/>
        </p:nvSpPr>
        <p:spPr>
          <a:xfrm>
            <a:off x="4754880" y="3026664"/>
            <a:ext cx="347472"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57" name="Text 55"/>
          <p:cNvSpPr/>
          <p:nvPr/>
        </p:nvSpPr>
        <p:spPr>
          <a:xfrm>
            <a:off x="5157216" y="3044952"/>
            <a:ext cx="3657600" cy="171176"/>
          </a:xfrm>
          <a:prstGeom prst="rect">
            <a:avLst/>
          </a:prstGeom>
          <a:noFill/>
          <a:ln/>
        </p:spPr>
        <p:txBody>
          <a:bodyPr wrap="square" lIns="0" tIns="0" rIns="0" bIns="0" rtlCol="0" anchor="t"/>
          <a:lstStyle/>
          <a:p>
            <a:pPr marL="0" indent="0">
              <a:buNone/>
            </a:pPr>
            <a:r>
              <a:rPr lang="en-US" sz="1050" b="1" dirty="0">
                <a:solidFill>
                  <a:srgbClr val="1F3A5F"/>
                </a:solidFill>
                <a:latin typeface="Calibri" pitchFamily="34" charset="0"/>
                <a:ea typeface="Calibri" pitchFamily="34" charset="-122"/>
                <a:cs typeface="Calibri" pitchFamily="34" charset="-120"/>
              </a:rPr>
              <a:t>Power BI Dashboard</a:t>
            </a:r>
            <a:endParaRPr lang="en-US" sz="1050" dirty="0"/>
          </a:p>
        </p:txBody>
      </p:sp>
      <p:sp>
        <p:nvSpPr>
          <p:cNvPr id="58" name="Text 56"/>
          <p:cNvSpPr/>
          <p:nvPr/>
        </p:nvSpPr>
        <p:spPr>
          <a:xfrm>
            <a:off x="5157216" y="3191256"/>
            <a:ext cx="3657600" cy="164592"/>
          </a:xfrm>
          <a:prstGeom prst="rect">
            <a:avLst/>
          </a:prstGeom>
          <a:noFill/>
          <a:ln/>
        </p:spPr>
        <p:txBody>
          <a:bodyPr wrap="square" lIns="0" tIns="0" rIns="0" bIns="0" rtlCol="0" anchor="t"/>
          <a:lstStyle/>
          <a:p>
            <a:pPr marL="0" indent="0">
              <a:buNone/>
            </a:pPr>
            <a:r>
              <a:rPr lang="en-US" sz="850" i="1" dirty="0">
                <a:solidFill>
                  <a:srgbClr val="6B7C93"/>
                </a:solidFill>
                <a:latin typeface="Calibri" pitchFamily="34" charset="0"/>
                <a:ea typeface="Calibri" pitchFamily="34" charset="-122"/>
                <a:cs typeface="Calibri" pitchFamily="34" charset="-120"/>
              </a:rPr>
              <a:t>3 report pages · 12 interactive visuals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01 · Business Problem</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Business Problem Definition</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Why churn prediction matters in marketing analytics</a:t>
            </a:r>
            <a:endParaRPr lang="en-US" sz="1300" dirty="0"/>
          </a:p>
        </p:txBody>
      </p:sp>
      <p:sp>
        <p:nvSpPr>
          <p:cNvPr id="9" name="Shape 7"/>
          <p:cNvSpPr/>
          <p:nvPr/>
        </p:nvSpPr>
        <p:spPr>
          <a:xfrm>
            <a:off x="274320" y="1371600"/>
            <a:ext cx="3931920" cy="1234440"/>
          </a:xfrm>
          <a:prstGeom prst="rect">
            <a:avLst/>
          </a:prstGeom>
          <a:solidFill>
            <a:srgbClr val="FFFFFF"/>
          </a:solidFill>
          <a:ln w="12700">
            <a:solidFill>
              <a:srgbClr val="DDE5F0"/>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8"/>
          <p:cNvSpPr/>
          <p:nvPr/>
        </p:nvSpPr>
        <p:spPr>
          <a:xfrm>
            <a:off x="274320" y="1371600"/>
            <a:ext cx="64008" cy="1234440"/>
          </a:xfrm>
          <a:prstGeom prst="rect">
            <a:avLst/>
          </a:prstGeom>
          <a:solidFill>
            <a:srgbClr val="2E75B6"/>
          </a:solidFill>
          <a:ln w="12700">
            <a:solidFill>
              <a:srgbClr val="2E75B6"/>
            </a:solidFill>
            <a:prstDash val="solid"/>
          </a:ln>
        </p:spPr>
        <p:txBody>
          <a:bodyPr/>
          <a:lstStyle/>
          <a:p>
            <a:endParaRPr lang="en-US"/>
          </a:p>
        </p:txBody>
      </p:sp>
      <p:sp>
        <p:nvSpPr>
          <p:cNvPr id="11" name="Text 9"/>
          <p:cNvSpPr/>
          <p:nvPr/>
        </p:nvSpPr>
        <p:spPr>
          <a:xfrm>
            <a:off x="457200" y="1463040"/>
            <a:ext cx="365760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  Problem Statement</a:t>
            </a:r>
            <a:endParaRPr lang="en-US" sz="1200" dirty="0"/>
          </a:p>
        </p:txBody>
      </p:sp>
      <p:sp>
        <p:nvSpPr>
          <p:cNvPr id="12" name="Text 10"/>
          <p:cNvSpPr/>
          <p:nvPr/>
        </p:nvSpPr>
        <p:spPr>
          <a:xfrm>
            <a:off x="457200" y="1773936"/>
            <a:ext cx="3657600" cy="740664"/>
          </a:xfrm>
          <a:prstGeom prst="rect">
            <a:avLst/>
          </a:prstGeom>
          <a:noFill/>
          <a:ln/>
        </p:spPr>
        <p:txBody>
          <a:bodyPr wrap="square" lIns="0" tIns="0" rIns="0" bIns="0" rtlCol="0" anchor="t"/>
          <a:lstStyle/>
          <a:p>
            <a:pPr marL="0" indent="0">
              <a:buNone/>
            </a:pPr>
            <a:r>
              <a:rPr lang="en-US" sz="1050" dirty="0">
                <a:solidFill>
                  <a:srgbClr val="1A2B3C"/>
                </a:solidFill>
                <a:latin typeface="Calibri" pitchFamily="34" charset="0"/>
                <a:ea typeface="Calibri" pitchFamily="34" charset="-122"/>
                <a:cs typeface="Calibri" pitchFamily="34" charset="-120"/>
              </a:rPr>
              <a:t>Subscription-based businesses lose 5–7× more revenue replacing a churned customer than retaining one. This project builds a binary classifier that identifies at-risk customers before they leave, enabling targeted retention campaigns.</a:t>
            </a:r>
            <a:endParaRPr lang="en-US" sz="1050" dirty="0"/>
          </a:p>
        </p:txBody>
      </p:sp>
      <p:sp>
        <p:nvSpPr>
          <p:cNvPr id="13" name="Shape 11"/>
          <p:cNvSpPr/>
          <p:nvPr/>
        </p:nvSpPr>
        <p:spPr>
          <a:xfrm>
            <a:off x="274320" y="2697480"/>
            <a:ext cx="3931920" cy="1143000"/>
          </a:xfrm>
          <a:prstGeom prst="rect">
            <a:avLst/>
          </a:prstGeom>
          <a:solidFill>
            <a:srgbClr val="FFFFFF"/>
          </a:solidFill>
          <a:ln w="12700">
            <a:solidFill>
              <a:srgbClr val="DDE5F0"/>
            </a:solidFill>
            <a:prstDash val="solid"/>
          </a:ln>
          <a:effectLst>
            <a:outerShdw blurRad="63500" dist="25400" dir="8100000" algn="bl" rotWithShape="0">
              <a:srgbClr val="000000">
                <a:alpha val="8000"/>
              </a:srgbClr>
            </a:outerShdw>
          </a:effectLst>
        </p:spPr>
        <p:txBody>
          <a:bodyPr/>
          <a:lstStyle/>
          <a:p>
            <a:endParaRPr lang="en-US"/>
          </a:p>
        </p:txBody>
      </p:sp>
      <p:sp>
        <p:nvSpPr>
          <p:cNvPr id="14" name="Shape 12"/>
          <p:cNvSpPr/>
          <p:nvPr/>
        </p:nvSpPr>
        <p:spPr>
          <a:xfrm>
            <a:off x="274320" y="2697480"/>
            <a:ext cx="64008" cy="1143000"/>
          </a:xfrm>
          <a:prstGeom prst="rect">
            <a:avLst/>
          </a:prstGeom>
          <a:solidFill>
            <a:srgbClr val="2E75B6"/>
          </a:solidFill>
          <a:ln w="12700">
            <a:solidFill>
              <a:srgbClr val="2E75B6"/>
            </a:solidFill>
            <a:prstDash val="solid"/>
          </a:ln>
        </p:spPr>
        <p:txBody>
          <a:bodyPr/>
          <a:lstStyle/>
          <a:p>
            <a:endParaRPr lang="en-US"/>
          </a:p>
        </p:txBody>
      </p:sp>
      <p:sp>
        <p:nvSpPr>
          <p:cNvPr id="15" name="Text 13"/>
          <p:cNvSpPr/>
          <p:nvPr/>
        </p:nvSpPr>
        <p:spPr>
          <a:xfrm>
            <a:off x="457200" y="2788920"/>
            <a:ext cx="365760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  Business Objectives</a:t>
            </a:r>
            <a:endParaRPr lang="en-US" sz="1200" dirty="0"/>
          </a:p>
        </p:txBody>
      </p:sp>
      <p:sp>
        <p:nvSpPr>
          <p:cNvPr id="16" name="Text 14"/>
          <p:cNvSpPr/>
          <p:nvPr/>
        </p:nvSpPr>
        <p:spPr>
          <a:xfrm>
            <a:off x="457200" y="3099816"/>
            <a:ext cx="3657600" cy="649224"/>
          </a:xfrm>
          <a:prstGeom prst="rect">
            <a:avLst/>
          </a:prstGeom>
          <a:noFill/>
          <a:ln/>
        </p:spPr>
        <p:txBody>
          <a:bodyPr wrap="square" lIns="0" tIns="0" rIns="0" bIns="0" rtlCol="0" anchor="t"/>
          <a:lstStyle/>
          <a:p>
            <a:pPr marL="0" indent="0">
              <a:buNone/>
            </a:pPr>
            <a:r>
              <a:rPr lang="en-US" sz="1050" dirty="0">
                <a:solidFill>
                  <a:srgbClr val="1A2B3C"/>
                </a:solidFill>
                <a:latin typeface="Calibri" pitchFamily="34" charset="0"/>
                <a:ea typeface="Calibri" pitchFamily="34" charset="-122"/>
                <a:cs typeface="Calibri" pitchFamily="34" charset="-120"/>
              </a:rPr>
              <a:t>• Identify key behavioral &amp; demographic drivers of churn</a:t>
            </a:r>
            <a:endParaRPr lang="en-US" sz="1050" dirty="0"/>
          </a:p>
          <a:p>
            <a:pPr marL="0" indent="0">
              <a:buNone/>
            </a:pPr>
            <a:r>
              <a:rPr lang="en-US" sz="1050" dirty="0">
                <a:solidFill>
                  <a:srgbClr val="1A2B3C"/>
                </a:solidFill>
                <a:latin typeface="Calibri" pitchFamily="34" charset="0"/>
                <a:ea typeface="Calibri" pitchFamily="34" charset="-122"/>
                <a:cs typeface="Calibri" pitchFamily="34" charset="-120"/>
              </a:rPr>
              <a:t>• Cluster customers by predicted risk tier</a:t>
            </a:r>
            <a:endParaRPr lang="en-US" sz="1050" dirty="0"/>
          </a:p>
          <a:p>
            <a:pPr marL="0" indent="0">
              <a:buNone/>
            </a:pPr>
            <a:r>
              <a:rPr lang="en-US" sz="1050" dirty="0">
                <a:solidFill>
                  <a:srgbClr val="1A2B3C"/>
                </a:solidFill>
                <a:latin typeface="Calibri" pitchFamily="34" charset="0"/>
                <a:ea typeface="Calibri" pitchFamily="34" charset="-122"/>
                <a:cs typeface="Calibri" pitchFamily="34" charset="-120"/>
              </a:rPr>
              <a:t>• Ensure fairness across demographic groups</a:t>
            </a:r>
            <a:endParaRPr lang="en-US" sz="1050" dirty="0"/>
          </a:p>
          <a:p>
            <a:pPr marL="0" indent="0">
              <a:buNone/>
            </a:pPr>
            <a:r>
              <a:rPr lang="en-US" sz="1050" dirty="0">
                <a:solidFill>
                  <a:srgbClr val="1A2B3C"/>
                </a:solidFill>
                <a:latin typeface="Calibri" pitchFamily="34" charset="0"/>
                <a:ea typeface="Calibri" pitchFamily="34" charset="-122"/>
                <a:cs typeface="Calibri" pitchFamily="34" charset="-120"/>
              </a:rPr>
              <a:t>• Deploy a scoring script for new customer records</a:t>
            </a:r>
            <a:endParaRPr lang="en-US" sz="1050" dirty="0"/>
          </a:p>
        </p:txBody>
      </p:sp>
      <p:sp>
        <p:nvSpPr>
          <p:cNvPr id="17" name="Shape 15"/>
          <p:cNvSpPr/>
          <p:nvPr/>
        </p:nvSpPr>
        <p:spPr>
          <a:xfrm>
            <a:off x="4480560" y="1371600"/>
            <a:ext cx="4389120" cy="2468880"/>
          </a:xfrm>
          <a:prstGeom prst="rect">
            <a:avLst/>
          </a:prstGeom>
          <a:solidFill>
            <a:srgbClr val="1F3A5F"/>
          </a:solidFill>
          <a:ln w="12700">
            <a:solidFill>
              <a:srgbClr val="1F3A5F"/>
            </a:solidFill>
            <a:prstDash val="solid"/>
          </a:ln>
          <a:effectLst>
            <a:outerShdw blurRad="63500" dist="25400" dir="8100000" algn="bl" rotWithShape="0">
              <a:srgbClr val="000000">
                <a:alpha val="10000"/>
              </a:srgbClr>
            </a:outerShdw>
          </a:effectLst>
        </p:spPr>
        <p:txBody>
          <a:bodyPr/>
          <a:lstStyle/>
          <a:p>
            <a:endParaRPr lang="en-US"/>
          </a:p>
        </p:txBody>
      </p:sp>
      <p:sp>
        <p:nvSpPr>
          <p:cNvPr id="18" name="Text 16"/>
          <p:cNvSpPr/>
          <p:nvPr/>
        </p:nvSpPr>
        <p:spPr>
          <a:xfrm>
            <a:off x="4617720" y="1481328"/>
            <a:ext cx="4114800" cy="320040"/>
          </a:xfrm>
          <a:prstGeom prst="rect">
            <a:avLst/>
          </a:prstGeom>
          <a:noFill/>
          <a:ln/>
        </p:spPr>
        <p:txBody>
          <a:bodyPr wrap="square" lIns="0" tIns="0" rIns="0" bIns="0" rtlCol="0" anchor="ctr"/>
          <a:lstStyle/>
          <a:p>
            <a:pPr marL="0" indent="0">
              <a:buNone/>
            </a:pPr>
            <a:r>
              <a:rPr lang="en-US" sz="1300" b="1" dirty="0">
                <a:solidFill>
                  <a:srgbClr val="7EB8E8"/>
                </a:solidFill>
                <a:latin typeface="Calibri" pitchFamily="34" charset="0"/>
                <a:ea typeface="Calibri" pitchFamily="34" charset="-122"/>
                <a:cs typeface="Calibri" pitchFamily="34" charset="-120"/>
              </a:rPr>
              <a:t>Success Metrics</a:t>
            </a:r>
            <a:endParaRPr lang="en-US" sz="1300" dirty="0"/>
          </a:p>
        </p:txBody>
      </p:sp>
      <p:sp>
        <p:nvSpPr>
          <p:cNvPr id="19" name="Shape 17"/>
          <p:cNvSpPr/>
          <p:nvPr/>
        </p:nvSpPr>
        <p:spPr>
          <a:xfrm>
            <a:off x="4617720" y="1920240"/>
            <a:ext cx="4114800" cy="502920"/>
          </a:xfrm>
          <a:prstGeom prst="rect">
            <a:avLst/>
          </a:prstGeom>
          <a:solidFill>
            <a:srgbClr val="FFFFFF">
              <a:alpha val="10000"/>
            </a:srgbClr>
          </a:solidFill>
          <a:ln w="12700">
            <a:solidFill>
              <a:srgbClr val="FFFFFF">
                <a:alpha val="30000"/>
              </a:srgbClr>
            </a:solidFill>
            <a:prstDash val="solid"/>
          </a:ln>
        </p:spPr>
        <p:txBody>
          <a:bodyPr/>
          <a:lstStyle/>
          <a:p>
            <a:endParaRPr lang="en-US"/>
          </a:p>
        </p:txBody>
      </p:sp>
      <p:sp>
        <p:nvSpPr>
          <p:cNvPr id="20" name="Shape 18"/>
          <p:cNvSpPr/>
          <p:nvPr/>
        </p:nvSpPr>
        <p:spPr>
          <a:xfrm>
            <a:off x="4617720" y="1920240"/>
            <a:ext cx="54864" cy="502920"/>
          </a:xfrm>
          <a:prstGeom prst="rect">
            <a:avLst/>
          </a:prstGeom>
          <a:solidFill>
            <a:srgbClr val="2A7A4B"/>
          </a:solidFill>
          <a:ln w="12700">
            <a:solidFill>
              <a:srgbClr val="2A7A4B"/>
            </a:solidFill>
            <a:prstDash val="solid"/>
          </a:ln>
        </p:spPr>
        <p:txBody>
          <a:bodyPr/>
          <a:lstStyle/>
          <a:p>
            <a:endParaRPr lang="en-US"/>
          </a:p>
        </p:txBody>
      </p:sp>
      <p:sp>
        <p:nvSpPr>
          <p:cNvPr id="21" name="Text 19"/>
          <p:cNvSpPr/>
          <p:nvPr/>
        </p:nvSpPr>
        <p:spPr>
          <a:xfrm>
            <a:off x="4736592" y="1947672"/>
            <a:ext cx="109728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AUC-ROC</a:t>
            </a:r>
            <a:endParaRPr lang="en-US" sz="1200" dirty="0"/>
          </a:p>
        </p:txBody>
      </p:sp>
      <p:sp>
        <p:nvSpPr>
          <p:cNvPr id="22" name="Text 20"/>
          <p:cNvSpPr/>
          <p:nvPr/>
        </p:nvSpPr>
        <p:spPr>
          <a:xfrm>
            <a:off x="5943600" y="1947672"/>
            <a:ext cx="1280160" cy="228600"/>
          </a:xfrm>
          <a:prstGeom prst="rect">
            <a:avLst/>
          </a:prstGeom>
          <a:noFill/>
          <a:ln/>
        </p:spPr>
        <p:txBody>
          <a:bodyPr wrap="square" lIns="0" tIns="0" rIns="0" bIns="0" rtlCol="0" anchor="ctr"/>
          <a:lstStyle/>
          <a:p>
            <a:pPr marL="0" indent="0">
              <a:buNone/>
            </a:pPr>
            <a:r>
              <a:rPr lang="en-US" sz="1200" b="1" dirty="0">
                <a:solidFill>
                  <a:srgbClr val="2A7A4B"/>
                </a:solidFill>
                <a:latin typeface="Calibri" pitchFamily="34" charset="0"/>
                <a:ea typeface="Calibri" pitchFamily="34" charset="-122"/>
                <a:cs typeface="Calibri" pitchFamily="34" charset="-120"/>
              </a:rPr>
              <a:t>≥ 0.80</a:t>
            </a:r>
            <a:endParaRPr lang="en-US" sz="1200" dirty="0"/>
          </a:p>
        </p:txBody>
      </p:sp>
      <p:sp>
        <p:nvSpPr>
          <p:cNvPr id="23" name="Text 21"/>
          <p:cNvSpPr/>
          <p:nvPr/>
        </p:nvSpPr>
        <p:spPr>
          <a:xfrm>
            <a:off x="4736592" y="2194560"/>
            <a:ext cx="3749040" cy="201168"/>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Achieved: 0.897 ✓</a:t>
            </a:r>
            <a:endParaRPr lang="en-US" sz="950" dirty="0"/>
          </a:p>
        </p:txBody>
      </p:sp>
      <p:sp>
        <p:nvSpPr>
          <p:cNvPr id="24" name="Shape 22"/>
          <p:cNvSpPr/>
          <p:nvPr/>
        </p:nvSpPr>
        <p:spPr>
          <a:xfrm>
            <a:off x="4617720" y="2532888"/>
            <a:ext cx="4114800" cy="502920"/>
          </a:xfrm>
          <a:prstGeom prst="rect">
            <a:avLst/>
          </a:prstGeom>
          <a:solidFill>
            <a:srgbClr val="FFFFFF">
              <a:alpha val="10000"/>
            </a:srgbClr>
          </a:solidFill>
          <a:ln w="12700">
            <a:solidFill>
              <a:srgbClr val="FFFFFF">
                <a:alpha val="30000"/>
              </a:srgbClr>
            </a:solidFill>
            <a:prstDash val="solid"/>
          </a:ln>
        </p:spPr>
        <p:txBody>
          <a:bodyPr/>
          <a:lstStyle/>
          <a:p>
            <a:endParaRPr lang="en-US"/>
          </a:p>
        </p:txBody>
      </p:sp>
      <p:sp>
        <p:nvSpPr>
          <p:cNvPr id="25" name="Shape 23"/>
          <p:cNvSpPr/>
          <p:nvPr/>
        </p:nvSpPr>
        <p:spPr>
          <a:xfrm>
            <a:off x="4617720" y="2532888"/>
            <a:ext cx="54864" cy="502920"/>
          </a:xfrm>
          <a:prstGeom prst="rect">
            <a:avLst/>
          </a:prstGeom>
          <a:solidFill>
            <a:srgbClr val="2E75B6"/>
          </a:solidFill>
          <a:ln w="12700">
            <a:solidFill>
              <a:srgbClr val="2E75B6"/>
            </a:solidFill>
            <a:prstDash val="solid"/>
          </a:ln>
        </p:spPr>
        <p:txBody>
          <a:bodyPr/>
          <a:lstStyle/>
          <a:p>
            <a:endParaRPr lang="en-US"/>
          </a:p>
        </p:txBody>
      </p:sp>
      <p:sp>
        <p:nvSpPr>
          <p:cNvPr id="26" name="Text 24"/>
          <p:cNvSpPr/>
          <p:nvPr/>
        </p:nvSpPr>
        <p:spPr>
          <a:xfrm>
            <a:off x="4736592" y="2560320"/>
            <a:ext cx="109728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p>
        </p:txBody>
      </p:sp>
      <p:sp>
        <p:nvSpPr>
          <p:cNvPr id="27" name="Text 25"/>
          <p:cNvSpPr/>
          <p:nvPr/>
        </p:nvSpPr>
        <p:spPr>
          <a:xfrm>
            <a:off x="5943600" y="2560320"/>
            <a:ext cx="1280160" cy="228600"/>
          </a:xfrm>
          <a:prstGeom prst="rect">
            <a:avLst/>
          </a:prstGeom>
          <a:noFill/>
          <a:ln/>
        </p:spPr>
        <p:txBody>
          <a:bodyPr wrap="square" lIns="0" tIns="0" rIns="0" bIns="0" rtlCol="0" anchor="ctr"/>
          <a:lstStyle/>
          <a:p>
            <a:pPr marL="0" indent="0">
              <a:buNone/>
            </a:pPr>
            <a:r>
              <a:rPr lang="en-US" sz="1200" b="1" dirty="0">
                <a:solidFill>
                  <a:srgbClr val="2E75B6"/>
                </a:solidFill>
                <a:latin typeface="Calibri" pitchFamily="34" charset="0"/>
                <a:ea typeface="Calibri" pitchFamily="34" charset="-122"/>
                <a:cs typeface="Calibri" pitchFamily="34" charset="-120"/>
              </a:rPr>
              <a:t>≥ 0.75</a:t>
            </a:r>
            <a:endParaRPr lang="en-US" sz="1200" dirty="0"/>
          </a:p>
        </p:txBody>
      </p:sp>
      <p:sp>
        <p:nvSpPr>
          <p:cNvPr id="28" name="Text 26"/>
          <p:cNvSpPr/>
          <p:nvPr/>
        </p:nvSpPr>
        <p:spPr>
          <a:xfrm>
            <a:off x="4736592" y="2807208"/>
            <a:ext cx="3749040" cy="201168"/>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Churn class recall</a:t>
            </a:r>
            <a:endParaRPr lang="en-US" sz="950" dirty="0"/>
          </a:p>
        </p:txBody>
      </p:sp>
      <p:sp>
        <p:nvSpPr>
          <p:cNvPr id="29" name="Shape 27"/>
          <p:cNvSpPr/>
          <p:nvPr/>
        </p:nvSpPr>
        <p:spPr>
          <a:xfrm>
            <a:off x="4617720" y="3145536"/>
            <a:ext cx="4114800" cy="502920"/>
          </a:xfrm>
          <a:prstGeom prst="rect">
            <a:avLst/>
          </a:prstGeom>
          <a:solidFill>
            <a:srgbClr val="FFFFFF">
              <a:alpha val="10000"/>
            </a:srgbClr>
          </a:solidFill>
          <a:ln w="12700">
            <a:solidFill>
              <a:srgbClr val="FFFFFF">
                <a:alpha val="30000"/>
              </a:srgbClr>
            </a:solidFill>
            <a:prstDash val="solid"/>
          </a:ln>
        </p:spPr>
        <p:txBody>
          <a:bodyPr/>
          <a:lstStyle/>
          <a:p>
            <a:endParaRPr lang="en-US"/>
          </a:p>
        </p:txBody>
      </p:sp>
      <p:sp>
        <p:nvSpPr>
          <p:cNvPr id="30" name="Shape 28"/>
          <p:cNvSpPr/>
          <p:nvPr/>
        </p:nvSpPr>
        <p:spPr>
          <a:xfrm>
            <a:off x="4617720" y="3145536"/>
            <a:ext cx="54864" cy="502920"/>
          </a:xfrm>
          <a:prstGeom prst="rect">
            <a:avLst/>
          </a:prstGeom>
          <a:solidFill>
            <a:srgbClr val="E8A020"/>
          </a:solidFill>
          <a:ln w="12700">
            <a:solidFill>
              <a:srgbClr val="E8A020"/>
            </a:solidFill>
            <a:prstDash val="solid"/>
          </a:ln>
        </p:spPr>
        <p:txBody>
          <a:bodyPr/>
          <a:lstStyle/>
          <a:p>
            <a:endParaRPr lang="en-US"/>
          </a:p>
        </p:txBody>
      </p:sp>
      <p:sp>
        <p:nvSpPr>
          <p:cNvPr id="31" name="Text 29"/>
          <p:cNvSpPr/>
          <p:nvPr/>
        </p:nvSpPr>
        <p:spPr>
          <a:xfrm>
            <a:off x="4736592" y="3172968"/>
            <a:ext cx="109728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DPD</a:t>
            </a:r>
            <a:endParaRPr lang="en-US" sz="1200" dirty="0"/>
          </a:p>
        </p:txBody>
      </p:sp>
      <p:sp>
        <p:nvSpPr>
          <p:cNvPr id="32" name="Text 30"/>
          <p:cNvSpPr/>
          <p:nvPr/>
        </p:nvSpPr>
        <p:spPr>
          <a:xfrm>
            <a:off x="5943600" y="3172968"/>
            <a:ext cx="1280160" cy="228600"/>
          </a:xfrm>
          <a:prstGeom prst="rect">
            <a:avLst/>
          </a:prstGeom>
          <a:noFill/>
          <a:ln/>
        </p:spPr>
        <p:txBody>
          <a:bodyPr wrap="square" lIns="0" tIns="0" rIns="0" bIns="0" rtlCol="0" anchor="ctr"/>
          <a:lstStyle/>
          <a:p>
            <a:pPr marL="0" indent="0">
              <a:buNone/>
            </a:pPr>
            <a:r>
              <a:rPr lang="en-US" sz="1200" b="1" dirty="0">
                <a:solidFill>
                  <a:srgbClr val="E8A020"/>
                </a:solidFill>
                <a:latin typeface="Calibri" pitchFamily="34" charset="0"/>
                <a:ea typeface="Calibri" pitchFamily="34" charset="-122"/>
                <a:cs typeface="Calibri" pitchFamily="34" charset="-120"/>
              </a:rPr>
              <a:t>&lt; 0.10</a:t>
            </a:r>
            <a:endParaRPr lang="en-US" sz="1200" dirty="0"/>
          </a:p>
        </p:txBody>
      </p:sp>
      <p:sp>
        <p:nvSpPr>
          <p:cNvPr id="33" name="Text 31"/>
          <p:cNvSpPr/>
          <p:nvPr/>
        </p:nvSpPr>
        <p:spPr>
          <a:xfrm>
            <a:off x="4736592" y="3419856"/>
            <a:ext cx="3749040" cy="201168"/>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Fairness: 0.001 ✓</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02–03 · Data</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Dataset Acquisition &amp; Loading</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3 files · 7,043 customers · 19 total columns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325880"/>
          <a:ext cx="8595360" cy="1548384"/>
        </p:xfrm>
        <a:graphic>
          <a:graphicData uri="http://schemas.openxmlformats.org/drawingml/2006/table">
            <a:tbl>
              <a:tblPr/>
              <a:tblGrid>
                <a:gridCol w="16459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5394960">
                  <a:extLst>
                    <a:ext uri="{9D8B030D-6E8A-4147-A177-3AD203B41FA5}">
                      <a16:colId xmlns:a16="http://schemas.microsoft.com/office/drawing/2014/main" val="20003"/>
                    </a:ext>
                  </a:extLst>
                </a:gridCol>
              </a:tblGrid>
              <a:tr h="38404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F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Rows</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F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Columns</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F3A5F"/>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Key Features</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84048">
                <a:tc>
                  <a:txBody>
                    <a:bodyPr/>
                    <a:lstStyle/>
                    <a:p>
                      <a:pPr marL="0" indent="0">
                        <a:buNone/>
                      </a:pPr>
                      <a:r>
                        <a:rPr lang="en-US" sz="1000" b="1" dirty="0">
                          <a:solidFill>
                            <a:srgbClr val="1F3A5F"/>
                          </a:solidFill>
                          <a:latin typeface="Calibri" pitchFamily="34" charset="0"/>
                          <a:ea typeface="Calibri" pitchFamily="34" charset="-122"/>
                          <a:cs typeface="Calibri" pitchFamily="34" charset="-120"/>
                        </a:rPr>
                        <a:t>customers.csv</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EBF3FA"/>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7,043</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CustomerID · Gender · Age · SeniorCitizen · Partner · Dependents · Tenure</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00" b="1" dirty="0">
                          <a:solidFill>
                            <a:srgbClr val="1F3A5F"/>
                          </a:solidFill>
                          <a:latin typeface="Calibri" pitchFamily="34" charset="0"/>
                          <a:ea typeface="Calibri" pitchFamily="34" charset="-122"/>
                          <a:cs typeface="Calibri" pitchFamily="34" charset="-120"/>
                        </a:rPr>
                        <a:t>services.csv</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7,043</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PhoneService · InternetService · OnlineBackup · TechSupport · StreamingTV · Contract · PaperlessBilling</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00" b="1" dirty="0">
                          <a:solidFill>
                            <a:srgbClr val="1F3A5F"/>
                          </a:solidFill>
                          <a:latin typeface="Calibri" pitchFamily="34" charset="0"/>
                          <a:ea typeface="Calibri" pitchFamily="34" charset="-122"/>
                          <a:cs typeface="Calibri" pitchFamily="34" charset="-120"/>
                        </a:rPr>
                        <a:t>billing.csv</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EBF3FA"/>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7,043</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MonthlyCharges · TotalCharges · PaymentMethod · NumComplaints · Churn (target)</a:t>
                      </a:r>
                      <a:endParaRPr lang="en-US" sz="1000" dirty="0">
                        <a:latin typeface="Calibri" charset="0"/>
                        <a:ea typeface="Calibri" charset="0"/>
                        <a:cs typeface="Calibri" charset="0"/>
                      </a:endParaRPr>
                    </a:p>
                  </a:txBody>
                  <a:tcP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Shape 7"/>
          <p:cNvSpPr/>
          <p:nvPr/>
        </p:nvSpPr>
        <p:spPr>
          <a:xfrm>
            <a:off x="274320" y="3200400"/>
            <a:ext cx="8595360" cy="1371600"/>
          </a:xfrm>
          <a:prstGeom prst="rect">
            <a:avLst/>
          </a:prstGeom>
          <a:solidFill>
            <a:srgbClr val="1F3A5F"/>
          </a:solidFill>
          <a:ln w="12700">
            <a:solidFill>
              <a:srgbClr val="1F3A5F"/>
            </a:solidFill>
            <a:prstDash val="solid"/>
          </a:ln>
          <a:effectLst>
            <a:outerShdw blurRad="50800" dist="25400" dir="8100000" algn="bl" rotWithShape="0">
              <a:srgbClr val="000000">
                <a:alpha val="8000"/>
              </a:srgbClr>
            </a:outerShdw>
          </a:effectLst>
        </p:spPr>
        <p:txBody>
          <a:bodyPr/>
          <a:lstStyle/>
          <a:p>
            <a:endParaRPr lang="en-US"/>
          </a:p>
        </p:txBody>
      </p:sp>
      <p:sp>
        <p:nvSpPr>
          <p:cNvPr id="11" name="Text 8"/>
          <p:cNvSpPr/>
          <p:nvPr/>
        </p:nvSpPr>
        <p:spPr>
          <a:xfrm>
            <a:off x="457200" y="3273552"/>
            <a:ext cx="4572000" cy="292608"/>
          </a:xfrm>
          <a:prstGeom prst="rect">
            <a:avLst/>
          </a:prstGeom>
          <a:noFill/>
          <a:ln/>
        </p:spPr>
        <p:txBody>
          <a:bodyPr wrap="square" lIns="0" tIns="0" rIns="0" bIns="0" rtlCol="0" anchor="ctr"/>
          <a:lstStyle/>
          <a:p>
            <a:pPr marL="0" indent="0">
              <a:buNone/>
            </a:pPr>
            <a:r>
              <a:rPr lang="en-US" sz="1200" b="1" dirty="0">
                <a:solidFill>
                  <a:srgbClr val="7EB8E8"/>
                </a:solidFill>
                <a:latin typeface="Calibri" pitchFamily="34" charset="0"/>
                <a:ea typeface="Calibri" pitchFamily="34" charset="-122"/>
                <a:cs typeface="Calibri" pitchFamily="34" charset="-120"/>
              </a:rPr>
              <a:t>Merge &amp; Quality Checks</a:t>
            </a:r>
            <a:endParaRPr lang="en-US" sz="1200" dirty="0"/>
          </a:p>
        </p:txBody>
      </p:sp>
      <p:sp>
        <p:nvSpPr>
          <p:cNvPr id="12" name="Text 9"/>
          <p:cNvSpPr/>
          <p:nvPr/>
        </p:nvSpPr>
        <p:spPr>
          <a:xfrm>
            <a:off x="457200" y="3611880"/>
            <a:ext cx="4114800" cy="320040"/>
          </a:xfrm>
          <a:prstGeom prst="rect">
            <a:avLst/>
          </a:prstGeom>
          <a:noFill/>
          <a:ln/>
        </p:spPr>
        <p:txBody>
          <a:bodyPr wrap="square" lIns="0" tIns="0" rIns="0" bIns="0" rtlCol="0" anchor="t"/>
          <a:lstStyle/>
          <a:p>
            <a:pPr marL="0" indent="0">
              <a:buNone/>
            </a:pPr>
            <a:r>
              <a:rPr lang="en-US" sz="1000" b="1" dirty="0">
                <a:solidFill>
                  <a:srgbClr val="7EB8E8"/>
                </a:solidFill>
                <a:latin typeface="Calibri" pitchFamily="34" charset="0"/>
                <a:ea typeface="Calibri" pitchFamily="34" charset="-122"/>
                <a:cs typeface="Calibri" pitchFamily="34" charset="-120"/>
              </a:rPr>
              <a:t>🔗 Join Key  </a:t>
            </a:r>
            <a:r>
              <a:rPr lang="en-US" sz="1000" dirty="0">
                <a:solidFill>
                  <a:srgbClr val="CADCFC"/>
                </a:solidFill>
                <a:latin typeface="Calibri" pitchFamily="34" charset="0"/>
                <a:ea typeface="Calibri" pitchFamily="34" charset="-122"/>
                <a:cs typeface="Calibri" pitchFamily="34" charset="-120"/>
              </a:rPr>
              <a:t>CustomerID — inner join across all 3 files → 7,043 rows × 22 columns</a:t>
            </a:r>
            <a:endParaRPr lang="en-US" sz="1000" dirty="0"/>
          </a:p>
        </p:txBody>
      </p:sp>
      <p:sp>
        <p:nvSpPr>
          <p:cNvPr id="13" name="Text 10"/>
          <p:cNvSpPr/>
          <p:nvPr/>
        </p:nvSpPr>
        <p:spPr>
          <a:xfrm>
            <a:off x="457200" y="3995928"/>
            <a:ext cx="4114800" cy="320040"/>
          </a:xfrm>
          <a:prstGeom prst="rect">
            <a:avLst/>
          </a:prstGeom>
          <a:noFill/>
          <a:ln/>
        </p:spPr>
        <p:txBody>
          <a:bodyPr wrap="square" lIns="0" tIns="0" rIns="0" bIns="0" rtlCol="0" anchor="t"/>
          <a:lstStyle/>
          <a:p>
            <a:pPr marL="0" indent="0">
              <a:buNone/>
            </a:pPr>
            <a:r>
              <a:rPr lang="en-US" sz="1000" b="1" dirty="0">
                <a:solidFill>
                  <a:srgbClr val="7EB8E8"/>
                </a:solidFill>
                <a:latin typeface="Calibri" pitchFamily="34" charset="0"/>
                <a:ea typeface="Calibri" pitchFamily="34" charset="-122"/>
                <a:cs typeface="Calibri" pitchFamily="34" charset="-120"/>
              </a:rPr>
              <a:t>✅ Missing Values  </a:t>
            </a:r>
            <a:r>
              <a:rPr lang="en-US" sz="1000" dirty="0">
                <a:solidFill>
                  <a:srgbClr val="CADCFC"/>
                </a:solidFill>
                <a:latin typeface="Calibri" pitchFamily="34" charset="0"/>
                <a:ea typeface="Calibri" pitchFamily="34" charset="-122"/>
                <a:cs typeface="Calibri" pitchFamily="34" charset="-120"/>
              </a:rPr>
              <a:t>0 missing values in any column after merge</a:t>
            </a:r>
            <a:endParaRPr lang="en-US" sz="1000" dirty="0"/>
          </a:p>
        </p:txBody>
      </p:sp>
      <p:sp>
        <p:nvSpPr>
          <p:cNvPr id="14" name="Text 11"/>
          <p:cNvSpPr/>
          <p:nvPr/>
        </p:nvSpPr>
        <p:spPr>
          <a:xfrm>
            <a:off x="4754880" y="3611880"/>
            <a:ext cx="4114800" cy="320040"/>
          </a:xfrm>
          <a:prstGeom prst="rect">
            <a:avLst/>
          </a:prstGeom>
          <a:noFill/>
          <a:ln/>
        </p:spPr>
        <p:txBody>
          <a:bodyPr wrap="square" lIns="0" tIns="0" rIns="0" bIns="0" rtlCol="0" anchor="t"/>
          <a:lstStyle/>
          <a:p>
            <a:pPr marL="0" indent="0">
              <a:buNone/>
            </a:pPr>
            <a:r>
              <a:rPr lang="en-US" sz="1000" b="1" dirty="0">
                <a:solidFill>
                  <a:srgbClr val="7EB8E8"/>
                </a:solidFill>
                <a:latin typeface="Calibri" pitchFamily="34" charset="0"/>
                <a:ea typeface="Calibri" pitchFamily="34" charset="-122"/>
                <a:cs typeface="Calibri" pitchFamily="34" charset="-120"/>
              </a:rPr>
              <a:t>✅ Duplicates  </a:t>
            </a:r>
            <a:r>
              <a:rPr lang="en-US" sz="1000" dirty="0">
                <a:solidFill>
                  <a:srgbClr val="CADCFC"/>
                </a:solidFill>
                <a:latin typeface="Calibri" pitchFamily="34" charset="0"/>
                <a:ea typeface="Calibri" pitchFamily="34" charset="-122"/>
                <a:cs typeface="Calibri" pitchFamily="34" charset="-120"/>
              </a:rPr>
              <a:t>0 duplicate rows detected</a:t>
            </a:r>
            <a:endParaRPr lang="en-US" sz="1000" dirty="0"/>
          </a:p>
        </p:txBody>
      </p:sp>
      <p:sp>
        <p:nvSpPr>
          <p:cNvPr id="15" name="Text 12"/>
          <p:cNvSpPr/>
          <p:nvPr/>
        </p:nvSpPr>
        <p:spPr>
          <a:xfrm>
            <a:off x="4754880" y="3995928"/>
            <a:ext cx="4114800" cy="320040"/>
          </a:xfrm>
          <a:prstGeom prst="rect">
            <a:avLst/>
          </a:prstGeom>
          <a:noFill/>
          <a:ln/>
        </p:spPr>
        <p:txBody>
          <a:bodyPr wrap="square" lIns="0" tIns="0" rIns="0" bIns="0" rtlCol="0" anchor="t"/>
          <a:lstStyle/>
          <a:p>
            <a:pPr marL="0" indent="0">
              <a:buNone/>
            </a:pPr>
            <a:r>
              <a:rPr lang="en-US" sz="1000" b="1" dirty="0">
                <a:solidFill>
                  <a:srgbClr val="7EB8E8"/>
                </a:solidFill>
                <a:latin typeface="Calibri" pitchFamily="34" charset="0"/>
                <a:ea typeface="Calibri" pitchFamily="34" charset="-122"/>
                <a:cs typeface="Calibri" pitchFamily="34" charset="-120"/>
              </a:rPr>
              <a:t>✅ Data Types  </a:t>
            </a:r>
            <a:r>
              <a:rPr lang="en-US" sz="1000" dirty="0">
                <a:solidFill>
                  <a:srgbClr val="CADCFC"/>
                </a:solidFill>
                <a:latin typeface="Calibri" pitchFamily="34" charset="0"/>
                <a:ea typeface="Calibri" pitchFamily="34" charset="-122"/>
                <a:cs typeface="Calibri" pitchFamily="34" charset="-120"/>
              </a:rPr>
              <a:t>Numeric, categorical &amp; binary columns correctly typed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04 · EDA</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Exploratory Data Analysis — Churn Overview</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Target distribution &amp; key categorical drivers</a:t>
            </a:r>
            <a:endParaRPr lang="en-US" sz="1300" dirty="0"/>
          </a:p>
        </p:txBody>
      </p:sp>
      <p:pic>
        <p:nvPicPr>
          <p:cNvPr id="9" name="Image 0" descr="/home/claude/outputs/fig1_churn_distribution.png"/>
          <p:cNvPicPr>
            <a:picLocks noChangeAspect="1"/>
          </p:cNvPicPr>
          <p:nvPr/>
        </p:nvPicPr>
        <p:blipFill>
          <a:blip r:embed="rId3"/>
          <a:stretch>
            <a:fillRect/>
          </a:stretch>
        </p:blipFill>
        <p:spPr>
          <a:xfrm>
            <a:off x="274320" y="1325880"/>
            <a:ext cx="5303520" cy="2331720"/>
          </a:xfrm>
          <a:prstGeom prst="rect">
            <a:avLst/>
          </a:prstGeom>
        </p:spPr>
      </p:pic>
      <p:pic>
        <p:nvPicPr>
          <p:cNvPr id="10" name="Image 1" descr="/home/claude/outputs/fig3_categorical_churn_rates.png"/>
          <p:cNvPicPr>
            <a:picLocks noChangeAspect="1"/>
          </p:cNvPicPr>
          <p:nvPr/>
        </p:nvPicPr>
        <p:blipFill>
          <a:blip r:embed="rId4"/>
          <a:stretch>
            <a:fillRect/>
          </a:stretch>
        </p:blipFill>
        <p:spPr>
          <a:xfrm>
            <a:off x="5715000" y="1325880"/>
            <a:ext cx="3154680" cy="2331720"/>
          </a:xfrm>
          <a:prstGeom prst="rect">
            <a:avLst/>
          </a:prstGeom>
        </p:spPr>
      </p:pic>
      <p:sp>
        <p:nvSpPr>
          <p:cNvPr id="11" name="Shape 7"/>
          <p:cNvSpPr/>
          <p:nvPr/>
        </p:nvSpPr>
        <p:spPr>
          <a:xfrm>
            <a:off x="274320" y="3794760"/>
            <a:ext cx="2743200" cy="822960"/>
          </a:xfrm>
          <a:prstGeom prst="rect">
            <a:avLst/>
          </a:prstGeom>
          <a:solidFill>
            <a:srgbClr val="FFFFFF"/>
          </a:solidFill>
          <a:ln w="12700">
            <a:solidFill>
              <a:srgbClr val="E0E8F0"/>
            </a:solidFill>
            <a:prstDash val="solid"/>
          </a:ln>
          <a:effectLst>
            <a:outerShdw blurRad="63500" dist="25400" dir="8100000" algn="bl" rotWithShape="0">
              <a:srgbClr val="000000">
                <a:alpha val="10000"/>
              </a:srgbClr>
            </a:outerShdw>
          </a:effectLst>
        </p:spPr>
        <p:txBody>
          <a:bodyPr/>
          <a:lstStyle/>
          <a:p>
            <a:endParaRPr lang="en-US"/>
          </a:p>
        </p:txBody>
      </p:sp>
      <p:sp>
        <p:nvSpPr>
          <p:cNvPr id="12" name="Shape 8"/>
          <p:cNvSpPr/>
          <p:nvPr/>
        </p:nvSpPr>
        <p:spPr>
          <a:xfrm>
            <a:off x="274320" y="3794760"/>
            <a:ext cx="2743200" cy="64008"/>
          </a:xfrm>
          <a:prstGeom prst="rect">
            <a:avLst/>
          </a:prstGeom>
          <a:solidFill>
            <a:srgbClr val="E05C5C"/>
          </a:solidFill>
          <a:ln w="12700">
            <a:solidFill>
              <a:srgbClr val="E05C5C"/>
            </a:solidFill>
            <a:prstDash val="solid"/>
          </a:ln>
        </p:spPr>
        <p:txBody>
          <a:bodyPr/>
          <a:lstStyle/>
          <a:p>
            <a:endParaRPr lang="en-US"/>
          </a:p>
        </p:txBody>
      </p:sp>
      <p:sp>
        <p:nvSpPr>
          <p:cNvPr id="13" name="Text 9"/>
          <p:cNvSpPr/>
          <p:nvPr/>
        </p:nvSpPr>
        <p:spPr>
          <a:xfrm>
            <a:off x="274320" y="3904488"/>
            <a:ext cx="2743200" cy="452628"/>
          </a:xfrm>
          <a:prstGeom prst="rect">
            <a:avLst/>
          </a:prstGeom>
          <a:noFill/>
          <a:ln/>
        </p:spPr>
        <p:txBody>
          <a:bodyPr wrap="square" lIns="0" tIns="0" rIns="0" bIns="0" rtlCol="0" anchor="ctr"/>
          <a:lstStyle/>
          <a:p>
            <a:pPr marL="0" indent="0" algn="ctr">
              <a:buNone/>
            </a:pPr>
            <a:r>
              <a:rPr lang="en-US" sz="2800" b="1" dirty="0">
                <a:solidFill>
                  <a:srgbClr val="E05C5C"/>
                </a:solidFill>
                <a:latin typeface="Calibri" pitchFamily="34" charset="0"/>
                <a:ea typeface="Calibri" pitchFamily="34" charset="-122"/>
                <a:cs typeface="Calibri" pitchFamily="34" charset="-120"/>
              </a:rPr>
              <a:t>22.1%</a:t>
            </a:r>
            <a:endParaRPr lang="en-US" sz="2800" dirty="0"/>
          </a:p>
        </p:txBody>
      </p:sp>
      <p:sp>
        <p:nvSpPr>
          <p:cNvPr id="14" name="Text 10"/>
          <p:cNvSpPr/>
          <p:nvPr/>
        </p:nvSpPr>
        <p:spPr>
          <a:xfrm>
            <a:off x="274320" y="4304995"/>
            <a:ext cx="2743200" cy="312725"/>
          </a:xfrm>
          <a:prstGeom prst="rect">
            <a:avLst/>
          </a:prstGeom>
          <a:noFill/>
          <a:ln/>
        </p:spPr>
        <p:txBody>
          <a:bodyPr wrap="square" lIns="0" tIns="0" rIns="0" bIns="0" rtlCol="0" anchor="t"/>
          <a:lstStyle/>
          <a:p>
            <a:pPr marL="0" indent="0" algn="ctr">
              <a:buNone/>
            </a:pPr>
            <a:r>
              <a:rPr lang="en-US" sz="1000" dirty="0">
                <a:solidFill>
                  <a:srgbClr val="4B5E78"/>
                </a:solidFill>
                <a:latin typeface="Calibri" pitchFamily="34" charset="0"/>
                <a:ea typeface="Calibri" pitchFamily="34" charset="-122"/>
                <a:cs typeface="Calibri" pitchFamily="34" charset="-120"/>
              </a:rPr>
              <a:t>Overall Churn Rate</a:t>
            </a:r>
            <a:endParaRPr lang="en-US" sz="1000" dirty="0"/>
          </a:p>
        </p:txBody>
      </p:sp>
      <p:sp>
        <p:nvSpPr>
          <p:cNvPr id="15" name="Shape 11"/>
          <p:cNvSpPr/>
          <p:nvPr/>
        </p:nvSpPr>
        <p:spPr>
          <a:xfrm>
            <a:off x="3200400" y="3794760"/>
            <a:ext cx="2743200" cy="822960"/>
          </a:xfrm>
          <a:prstGeom prst="rect">
            <a:avLst/>
          </a:prstGeom>
          <a:solidFill>
            <a:srgbClr val="FFFFFF"/>
          </a:solidFill>
          <a:ln w="12700">
            <a:solidFill>
              <a:srgbClr val="E0E8F0"/>
            </a:solidFill>
            <a:prstDash val="solid"/>
          </a:ln>
          <a:effectLst>
            <a:outerShdw blurRad="63500" dist="25400" dir="8100000" algn="bl" rotWithShape="0">
              <a:srgbClr val="000000">
                <a:alpha val="10000"/>
              </a:srgbClr>
            </a:outerShdw>
          </a:effectLst>
        </p:spPr>
        <p:txBody>
          <a:bodyPr/>
          <a:lstStyle/>
          <a:p>
            <a:endParaRPr lang="en-US"/>
          </a:p>
        </p:txBody>
      </p:sp>
      <p:sp>
        <p:nvSpPr>
          <p:cNvPr id="16" name="Shape 12"/>
          <p:cNvSpPr/>
          <p:nvPr/>
        </p:nvSpPr>
        <p:spPr>
          <a:xfrm>
            <a:off x="3200400" y="3794760"/>
            <a:ext cx="2743200" cy="64008"/>
          </a:xfrm>
          <a:prstGeom prst="rect">
            <a:avLst/>
          </a:prstGeom>
          <a:solidFill>
            <a:srgbClr val="2E75B6"/>
          </a:solidFill>
          <a:ln w="12700">
            <a:solidFill>
              <a:srgbClr val="2E75B6"/>
            </a:solidFill>
            <a:prstDash val="solid"/>
          </a:ln>
        </p:spPr>
        <p:txBody>
          <a:bodyPr/>
          <a:lstStyle/>
          <a:p>
            <a:endParaRPr lang="en-US"/>
          </a:p>
        </p:txBody>
      </p:sp>
      <p:sp>
        <p:nvSpPr>
          <p:cNvPr id="17" name="Text 13"/>
          <p:cNvSpPr/>
          <p:nvPr/>
        </p:nvSpPr>
        <p:spPr>
          <a:xfrm>
            <a:off x="3200400" y="3904488"/>
            <a:ext cx="2743200" cy="452628"/>
          </a:xfrm>
          <a:prstGeom prst="rect">
            <a:avLst/>
          </a:prstGeom>
          <a:noFill/>
          <a:ln/>
        </p:spPr>
        <p:txBody>
          <a:bodyPr wrap="square" lIns="0" tIns="0" rIns="0" bIns="0" rtlCol="0" anchor="ctr"/>
          <a:lstStyle/>
          <a:p>
            <a:pPr marL="0" indent="0" algn="ctr">
              <a:buNone/>
            </a:pPr>
            <a:r>
              <a:rPr lang="en-US" sz="2800" b="1" dirty="0">
                <a:solidFill>
                  <a:srgbClr val="2E75B6"/>
                </a:solidFill>
                <a:latin typeface="Calibri" pitchFamily="34" charset="0"/>
                <a:ea typeface="Calibri" pitchFamily="34" charset="-122"/>
                <a:cs typeface="Calibri" pitchFamily="34" charset="-120"/>
              </a:rPr>
              <a:t>55%</a:t>
            </a:r>
            <a:endParaRPr lang="en-US" sz="2800" dirty="0"/>
          </a:p>
        </p:txBody>
      </p:sp>
      <p:sp>
        <p:nvSpPr>
          <p:cNvPr id="18" name="Text 14"/>
          <p:cNvSpPr/>
          <p:nvPr/>
        </p:nvSpPr>
        <p:spPr>
          <a:xfrm>
            <a:off x="3200400" y="4304995"/>
            <a:ext cx="2743200" cy="312725"/>
          </a:xfrm>
          <a:prstGeom prst="rect">
            <a:avLst/>
          </a:prstGeom>
          <a:noFill/>
          <a:ln/>
        </p:spPr>
        <p:txBody>
          <a:bodyPr wrap="square" lIns="0" tIns="0" rIns="0" bIns="0" rtlCol="0" anchor="t"/>
          <a:lstStyle/>
          <a:p>
            <a:pPr marL="0" indent="0" algn="ctr">
              <a:buNone/>
            </a:pPr>
            <a:r>
              <a:rPr lang="en-US" sz="1000" dirty="0">
                <a:solidFill>
                  <a:srgbClr val="4B5E78"/>
                </a:solidFill>
                <a:latin typeface="Calibri" pitchFamily="34" charset="0"/>
                <a:ea typeface="Calibri" pitchFamily="34" charset="-122"/>
                <a:cs typeface="Calibri" pitchFamily="34" charset="-120"/>
              </a:rPr>
              <a:t>Month-to-Month Churners</a:t>
            </a:r>
            <a:endParaRPr lang="en-US" sz="1000" dirty="0"/>
          </a:p>
        </p:txBody>
      </p:sp>
      <p:sp>
        <p:nvSpPr>
          <p:cNvPr id="19" name="Shape 15"/>
          <p:cNvSpPr/>
          <p:nvPr/>
        </p:nvSpPr>
        <p:spPr>
          <a:xfrm>
            <a:off x="6126480" y="3794760"/>
            <a:ext cx="2743200" cy="822960"/>
          </a:xfrm>
          <a:prstGeom prst="rect">
            <a:avLst/>
          </a:prstGeom>
          <a:solidFill>
            <a:srgbClr val="FFFFFF"/>
          </a:solidFill>
          <a:ln w="12700">
            <a:solidFill>
              <a:srgbClr val="E0E8F0"/>
            </a:solidFill>
            <a:prstDash val="solid"/>
          </a:ln>
          <a:effectLst>
            <a:outerShdw blurRad="63500" dist="25400" dir="8100000" algn="bl" rotWithShape="0">
              <a:srgbClr val="000000">
                <a:alpha val="10000"/>
              </a:srgbClr>
            </a:outerShdw>
          </a:effectLst>
        </p:spPr>
        <p:txBody>
          <a:bodyPr/>
          <a:lstStyle/>
          <a:p>
            <a:endParaRPr lang="en-US"/>
          </a:p>
        </p:txBody>
      </p:sp>
      <p:sp>
        <p:nvSpPr>
          <p:cNvPr id="20" name="Shape 16"/>
          <p:cNvSpPr/>
          <p:nvPr/>
        </p:nvSpPr>
        <p:spPr>
          <a:xfrm>
            <a:off x="6126480" y="3794760"/>
            <a:ext cx="2743200" cy="64008"/>
          </a:xfrm>
          <a:prstGeom prst="rect">
            <a:avLst/>
          </a:prstGeom>
          <a:solidFill>
            <a:srgbClr val="7B3F9E"/>
          </a:solidFill>
          <a:ln w="12700">
            <a:solidFill>
              <a:srgbClr val="7B3F9E"/>
            </a:solidFill>
            <a:prstDash val="solid"/>
          </a:ln>
        </p:spPr>
        <p:txBody>
          <a:bodyPr/>
          <a:lstStyle/>
          <a:p>
            <a:endParaRPr lang="en-US"/>
          </a:p>
        </p:txBody>
      </p:sp>
      <p:sp>
        <p:nvSpPr>
          <p:cNvPr id="21" name="Text 17"/>
          <p:cNvSpPr/>
          <p:nvPr/>
        </p:nvSpPr>
        <p:spPr>
          <a:xfrm>
            <a:off x="6126480" y="3904488"/>
            <a:ext cx="2743200" cy="452628"/>
          </a:xfrm>
          <a:prstGeom prst="rect">
            <a:avLst/>
          </a:prstGeom>
          <a:noFill/>
          <a:ln/>
        </p:spPr>
        <p:txBody>
          <a:bodyPr wrap="square" lIns="0" tIns="0" rIns="0" bIns="0" rtlCol="0" anchor="ctr"/>
          <a:lstStyle/>
          <a:p>
            <a:pPr marL="0" indent="0" algn="ctr">
              <a:buNone/>
            </a:pPr>
            <a:r>
              <a:rPr lang="en-US" sz="2800" b="1" dirty="0">
                <a:solidFill>
                  <a:srgbClr val="7B3F9E"/>
                </a:solidFill>
                <a:latin typeface="Calibri" pitchFamily="34" charset="0"/>
                <a:ea typeface="Calibri" pitchFamily="34" charset="-122"/>
                <a:cs typeface="Calibri" pitchFamily="34" charset="-120"/>
              </a:rPr>
              <a:t>~38%</a:t>
            </a:r>
            <a:endParaRPr lang="en-US" sz="2800" dirty="0"/>
          </a:p>
        </p:txBody>
      </p:sp>
      <p:sp>
        <p:nvSpPr>
          <p:cNvPr id="22" name="Text 18"/>
          <p:cNvSpPr/>
          <p:nvPr/>
        </p:nvSpPr>
        <p:spPr>
          <a:xfrm>
            <a:off x="6126480" y="4304995"/>
            <a:ext cx="2743200" cy="312725"/>
          </a:xfrm>
          <a:prstGeom prst="rect">
            <a:avLst/>
          </a:prstGeom>
          <a:noFill/>
          <a:ln/>
        </p:spPr>
        <p:txBody>
          <a:bodyPr wrap="square" lIns="0" tIns="0" rIns="0" bIns="0" rtlCol="0" anchor="t"/>
          <a:lstStyle/>
          <a:p>
            <a:pPr marL="0" indent="0" algn="ctr">
              <a:buNone/>
            </a:pPr>
            <a:r>
              <a:rPr lang="en-US" sz="1000" dirty="0">
                <a:solidFill>
                  <a:srgbClr val="4B5E78"/>
                </a:solidFill>
                <a:latin typeface="Calibri" pitchFamily="34" charset="0"/>
                <a:ea typeface="Calibri" pitchFamily="34" charset="-122"/>
                <a:cs typeface="Calibri" pitchFamily="34" charset="-120"/>
              </a:rPr>
              <a:t>Fiber Optic Churn Rate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04 · EDA</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Exploratory Data Analysis — Distributions &amp; Correlation</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Numeric features split by churn status</a:t>
            </a:r>
            <a:endParaRPr lang="en-US" sz="1300" dirty="0"/>
          </a:p>
        </p:txBody>
      </p:sp>
      <p:pic>
        <p:nvPicPr>
          <p:cNvPr id="9" name="Image 0" descr="/home/claude/outputs/fig2_numeric_distributions.png"/>
          <p:cNvPicPr>
            <a:picLocks noChangeAspect="1"/>
          </p:cNvPicPr>
          <p:nvPr/>
        </p:nvPicPr>
        <p:blipFill>
          <a:blip r:embed="rId3"/>
          <a:stretch>
            <a:fillRect/>
          </a:stretch>
        </p:blipFill>
        <p:spPr>
          <a:xfrm>
            <a:off x="274320" y="1280160"/>
            <a:ext cx="5029200" cy="2377440"/>
          </a:xfrm>
          <a:prstGeom prst="rect">
            <a:avLst/>
          </a:prstGeom>
        </p:spPr>
      </p:pic>
      <p:pic>
        <p:nvPicPr>
          <p:cNvPr id="10" name="Image 1" descr="/home/claude/outputs/fig4_correlation_heatmap.png"/>
          <p:cNvPicPr>
            <a:picLocks noChangeAspect="1"/>
          </p:cNvPicPr>
          <p:nvPr/>
        </p:nvPicPr>
        <p:blipFill>
          <a:blip r:embed="rId4"/>
          <a:stretch>
            <a:fillRect/>
          </a:stretch>
        </p:blipFill>
        <p:spPr>
          <a:xfrm>
            <a:off x="5486400" y="1280160"/>
            <a:ext cx="3383280" cy="2377440"/>
          </a:xfrm>
          <a:prstGeom prst="rect">
            <a:avLst/>
          </a:prstGeom>
        </p:spPr>
      </p:pic>
      <p:sp>
        <p:nvSpPr>
          <p:cNvPr id="11" name="Shape 7"/>
          <p:cNvSpPr/>
          <p:nvPr/>
        </p:nvSpPr>
        <p:spPr>
          <a:xfrm>
            <a:off x="274320" y="3749040"/>
            <a:ext cx="8595360" cy="987552"/>
          </a:xfrm>
          <a:prstGeom prst="rect">
            <a:avLst/>
          </a:prstGeom>
          <a:solidFill>
            <a:srgbClr val="D6E4F7"/>
          </a:solidFill>
          <a:ln w="12700">
            <a:solidFill>
              <a:srgbClr val="C2D8F0"/>
            </a:solidFill>
            <a:prstDash val="solid"/>
          </a:ln>
        </p:spPr>
        <p:txBody>
          <a:bodyPr/>
          <a:lstStyle/>
          <a:p>
            <a:endParaRPr lang="en-US"/>
          </a:p>
        </p:txBody>
      </p:sp>
      <p:sp>
        <p:nvSpPr>
          <p:cNvPr id="12" name="Text 8"/>
          <p:cNvSpPr/>
          <p:nvPr/>
        </p:nvSpPr>
        <p:spPr>
          <a:xfrm>
            <a:off x="457200" y="3776472"/>
            <a:ext cx="3657600" cy="256032"/>
          </a:xfrm>
          <a:prstGeom prst="rect">
            <a:avLst/>
          </a:prstGeom>
          <a:noFill/>
          <a:ln/>
        </p:spPr>
        <p:txBody>
          <a:bodyPr wrap="square" lIns="0" tIns="0" rIns="0" bIns="0" rtlCol="0" anchor="ctr"/>
          <a:lstStyle/>
          <a:p>
            <a:pPr marL="0" indent="0">
              <a:buNone/>
            </a:pPr>
            <a:r>
              <a:rPr lang="en-US" sz="1050" b="1" dirty="0">
                <a:solidFill>
                  <a:srgbClr val="1F3A5F"/>
                </a:solidFill>
                <a:latin typeface="Calibri" pitchFamily="34" charset="0"/>
                <a:ea typeface="Calibri" pitchFamily="34" charset="-122"/>
                <a:cs typeface="Calibri" pitchFamily="34" charset="-120"/>
              </a:rPr>
              <a:t>📌  Key Findings from EDA</a:t>
            </a:r>
            <a:endParaRPr lang="en-US" sz="1050" dirty="0"/>
          </a:p>
        </p:txBody>
      </p:sp>
      <p:sp>
        <p:nvSpPr>
          <p:cNvPr id="13" name="Text 9"/>
          <p:cNvSpPr/>
          <p:nvPr/>
        </p:nvSpPr>
        <p:spPr>
          <a:xfrm>
            <a:off x="457200" y="4050792"/>
            <a:ext cx="8321040" cy="640080"/>
          </a:xfrm>
          <a:prstGeom prst="rect">
            <a:avLst/>
          </a:prstGeom>
          <a:noFill/>
          <a:ln/>
        </p:spPr>
        <p:txBody>
          <a:bodyPr wrap="square" lIns="0" tIns="0" rIns="0" bIns="0" rtlCol="0" anchor="t"/>
          <a:lstStyle/>
          <a:p>
            <a:pPr marL="0" indent="0">
              <a:buNone/>
            </a:pPr>
            <a:r>
              <a:rPr lang="en-US" sz="950" dirty="0">
                <a:solidFill>
                  <a:srgbClr val="1A2B3C"/>
                </a:solidFill>
                <a:latin typeface="Calibri" pitchFamily="34" charset="0"/>
                <a:ea typeface="Calibri" pitchFamily="34" charset="-122"/>
                <a:cs typeface="Calibri" pitchFamily="34" charset="-120"/>
              </a:rPr>
              <a:t>Churned customers have shorter tenure (median ~10 mo vs ~38 mo for retained)</a:t>
            </a:r>
            <a:endParaRPr lang="en-US" sz="950" dirty="0"/>
          </a:p>
          <a:p>
            <a:pPr marL="0" indent="0">
              <a:buNone/>
            </a:pPr>
            <a:r>
              <a:rPr lang="en-US" sz="950" dirty="0">
                <a:solidFill>
                  <a:srgbClr val="1A2B3C"/>
                </a:solidFill>
                <a:latin typeface="Calibri" pitchFamily="34" charset="0"/>
                <a:ea typeface="Calibri" pitchFamily="34" charset="-122"/>
                <a:cs typeface="Calibri" pitchFamily="34" charset="-120"/>
              </a:rPr>
              <a:t>Higher monthly charges strongly correlate with churn — especially Fiber Optic plans</a:t>
            </a:r>
            <a:endParaRPr lang="en-US" sz="950" dirty="0"/>
          </a:p>
          <a:p>
            <a:pPr marL="0" indent="0">
              <a:buNone/>
            </a:pPr>
            <a:r>
              <a:rPr lang="en-US" sz="950" dirty="0">
                <a:solidFill>
                  <a:srgbClr val="1A2B3C"/>
                </a:solidFill>
                <a:latin typeface="Calibri" pitchFamily="34" charset="0"/>
                <a:ea typeface="Calibri" pitchFamily="34" charset="-122"/>
                <a:cs typeface="Calibri" pitchFamily="34" charset="-120"/>
              </a:rPr>
              <a:t>NumComplaints shows the strongest positive correlation with churn (r ≈ +0.47)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05 · Preprocessing</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Preprocessing &amp; Feature Engineering</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5 new engineered features · encoding · scaling</a:t>
            </a:r>
            <a:endParaRPr lang="en-US" sz="1300" dirty="0"/>
          </a:p>
        </p:txBody>
      </p:sp>
      <p:sp>
        <p:nvSpPr>
          <p:cNvPr id="9" name="Shape 7"/>
          <p:cNvSpPr/>
          <p:nvPr/>
        </p:nvSpPr>
        <p:spPr>
          <a:xfrm>
            <a:off x="274320" y="1325880"/>
            <a:ext cx="4754880" cy="3291840"/>
          </a:xfrm>
          <a:prstGeom prst="rect">
            <a:avLst/>
          </a:prstGeom>
          <a:solidFill>
            <a:srgbClr val="FFFFFF"/>
          </a:solidFill>
          <a:ln w="12700">
            <a:solidFill>
              <a:srgbClr val="DDE5F0"/>
            </a:solidFill>
            <a:prstDash val="solid"/>
          </a:ln>
          <a:effectLst>
            <a:outerShdw blurRad="63500" dist="25400" dir="8100000" algn="bl" rotWithShape="0">
              <a:srgbClr val="000000">
                <a:alpha val="8000"/>
              </a:srgbClr>
            </a:outerShdw>
          </a:effectLst>
        </p:spPr>
        <p:txBody>
          <a:bodyPr/>
          <a:lstStyle/>
          <a:p>
            <a:endParaRPr lang="en-US"/>
          </a:p>
        </p:txBody>
      </p:sp>
      <p:sp>
        <p:nvSpPr>
          <p:cNvPr id="10" name="Text 8"/>
          <p:cNvSpPr/>
          <p:nvPr/>
        </p:nvSpPr>
        <p:spPr>
          <a:xfrm>
            <a:off x="457200" y="1417320"/>
            <a:ext cx="438912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  Engineered Features</a:t>
            </a:r>
            <a:endParaRPr lang="en-US" sz="1200" dirty="0"/>
          </a:p>
        </p:txBody>
      </p:sp>
      <p:sp>
        <p:nvSpPr>
          <p:cNvPr id="11" name="Shape 9"/>
          <p:cNvSpPr/>
          <p:nvPr/>
        </p:nvSpPr>
        <p:spPr>
          <a:xfrm>
            <a:off x="457200" y="1828800"/>
            <a:ext cx="4389120" cy="475488"/>
          </a:xfrm>
          <a:prstGeom prst="rect">
            <a:avLst/>
          </a:prstGeom>
          <a:solidFill>
            <a:srgbClr val="F0F6FF"/>
          </a:solidFill>
          <a:ln w="12700">
            <a:solidFill>
              <a:srgbClr val="E0EAF5"/>
            </a:solidFill>
            <a:prstDash val="solid"/>
          </a:ln>
        </p:spPr>
        <p:txBody>
          <a:bodyPr/>
          <a:lstStyle/>
          <a:p>
            <a:endParaRPr lang="en-US"/>
          </a:p>
        </p:txBody>
      </p:sp>
      <p:sp>
        <p:nvSpPr>
          <p:cNvPr id="12" name="Shape 10"/>
          <p:cNvSpPr/>
          <p:nvPr/>
        </p:nvSpPr>
        <p:spPr>
          <a:xfrm>
            <a:off x="457200" y="1828800"/>
            <a:ext cx="45720" cy="475488"/>
          </a:xfrm>
          <a:prstGeom prst="rect">
            <a:avLst/>
          </a:prstGeom>
          <a:solidFill>
            <a:srgbClr val="2E75B6"/>
          </a:solidFill>
          <a:ln w="12700">
            <a:solidFill>
              <a:srgbClr val="2E75B6"/>
            </a:solidFill>
            <a:prstDash val="solid"/>
          </a:ln>
        </p:spPr>
        <p:txBody>
          <a:bodyPr/>
          <a:lstStyle/>
          <a:p>
            <a:endParaRPr lang="en-US"/>
          </a:p>
        </p:txBody>
      </p:sp>
      <p:sp>
        <p:nvSpPr>
          <p:cNvPr id="13" name="Text 11"/>
          <p:cNvSpPr/>
          <p:nvPr/>
        </p:nvSpPr>
        <p:spPr>
          <a:xfrm>
            <a:off x="594360" y="1865376"/>
            <a:ext cx="4114800" cy="201168"/>
          </a:xfrm>
          <a:prstGeom prst="rect">
            <a:avLst/>
          </a:prstGeom>
          <a:noFill/>
          <a:ln/>
        </p:spPr>
        <p:txBody>
          <a:bodyPr wrap="square" lIns="0" tIns="0" rIns="0" bIns="0" rtlCol="0" anchor="ctr"/>
          <a:lstStyle/>
          <a:p>
            <a:pPr marL="0" indent="0">
              <a:buNone/>
            </a:pPr>
            <a:r>
              <a:rPr lang="en-US" sz="1000" b="1" dirty="0">
                <a:solidFill>
                  <a:srgbClr val="1F3A5F"/>
                </a:solidFill>
                <a:latin typeface="Calibri" pitchFamily="34" charset="0"/>
                <a:ea typeface="Calibri" pitchFamily="34" charset="-122"/>
                <a:cs typeface="Calibri" pitchFamily="34" charset="-120"/>
              </a:rPr>
              <a:t>RevenueSegment</a:t>
            </a:r>
            <a:endParaRPr lang="en-US" sz="1000" dirty="0"/>
          </a:p>
        </p:txBody>
      </p:sp>
      <p:sp>
        <p:nvSpPr>
          <p:cNvPr id="14" name="Text 12"/>
          <p:cNvSpPr/>
          <p:nvPr/>
        </p:nvSpPr>
        <p:spPr>
          <a:xfrm>
            <a:off x="594360" y="2075688"/>
            <a:ext cx="4114800" cy="201168"/>
          </a:xfrm>
          <a:prstGeom prst="rect">
            <a:avLst/>
          </a:prstGeom>
          <a:noFill/>
          <a:ln/>
        </p:spPr>
        <p:txBody>
          <a:bodyPr wrap="square" lIns="0" tIns="0" rIns="0" bIns="0" rtlCol="0" anchor="ctr"/>
          <a:lstStyle/>
          <a:p>
            <a:pPr marL="0" indent="0">
              <a:buNone/>
            </a:pPr>
            <a:r>
              <a:rPr lang="en-US" sz="900" i="1" dirty="0">
                <a:solidFill>
                  <a:srgbClr val="6B7C93"/>
                </a:solidFill>
                <a:latin typeface="Calibri" pitchFamily="34" charset="0"/>
                <a:ea typeface="Calibri" pitchFamily="34" charset="-122"/>
                <a:cs typeface="Calibri" pitchFamily="34" charset="-120"/>
              </a:rPr>
              <a:t>Bins MonthlyCharges → Low / Mid / High</a:t>
            </a:r>
            <a:endParaRPr lang="en-US" sz="900" dirty="0"/>
          </a:p>
        </p:txBody>
      </p:sp>
      <p:sp>
        <p:nvSpPr>
          <p:cNvPr id="15" name="Shape 13"/>
          <p:cNvSpPr/>
          <p:nvPr/>
        </p:nvSpPr>
        <p:spPr>
          <a:xfrm>
            <a:off x="457200" y="2377440"/>
            <a:ext cx="4389120" cy="475488"/>
          </a:xfrm>
          <a:prstGeom prst="rect">
            <a:avLst/>
          </a:prstGeom>
          <a:solidFill>
            <a:srgbClr val="FFFFFF"/>
          </a:solidFill>
          <a:ln w="12700">
            <a:solidFill>
              <a:srgbClr val="E0EAF5"/>
            </a:solidFill>
            <a:prstDash val="solid"/>
          </a:ln>
        </p:spPr>
        <p:txBody>
          <a:bodyPr/>
          <a:lstStyle/>
          <a:p>
            <a:endParaRPr lang="en-US"/>
          </a:p>
        </p:txBody>
      </p:sp>
      <p:sp>
        <p:nvSpPr>
          <p:cNvPr id="16" name="Shape 14"/>
          <p:cNvSpPr/>
          <p:nvPr/>
        </p:nvSpPr>
        <p:spPr>
          <a:xfrm>
            <a:off x="457200" y="2377440"/>
            <a:ext cx="45720" cy="475488"/>
          </a:xfrm>
          <a:prstGeom prst="rect">
            <a:avLst/>
          </a:prstGeom>
          <a:solidFill>
            <a:srgbClr val="2E75B6"/>
          </a:solidFill>
          <a:ln w="12700">
            <a:solidFill>
              <a:srgbClr val="2E75B6"/>
            </a:solidFill>
            <a:prstDash val="solid"/>
          </a:ln>
        </p:spPr>
        <p:txBody>
          <a:bodyPr/>
          <a:lstStyle/>
          <a:p>
            <a:endParaRPr lang="en-US"/>
          </a:p>
        </p:txBody>
      </p:sp>
      <p:sp>
        <p:nvSpPr>
          <p:cNvPr id="17" name="Text 15"/>
          <p:cNvSpPr/>
          <p:nvPr/>
        </p:nvSpPr>
        <p:spPr>
          <a:xfrm>
            <a:off x="594360" y="2414016"/>
            <a:ext cx="4114800" cy="201168"/>
          </a:xfrm>
          <a:prstGeom prst="rect">
            <a:avLst/>
          </a:prstGeom>
          <a:noFill/>
          <a:ln/>
        </p:spPr>
        <p:txBody>
          <a:bodyPr wrap="square" lIns="0" tIns="0" rIns="0" bIns="0" rtlCol="0" anchor="ctr"/>
          <a:lstStyle/>
          <a:p>
            <a:pPr marL="0" indent="0">
              <a:buNone/>
            </a:pPr>
            <a:r>
              <a:rPr lang="en-US" sz="1000" b="1" dirty="0">
                <a:solidFill>
                  <a:srgbClr val="1F3A5F"/>
                </a:solidFill>
                <a:latin typeface="Calibri" pitchFamily="34" charset="0"/>
                <a:ea typeface="Calibri" pitchFamily="34" charset="-122"/>
                <a:cs typeface="Calibri" pitchFamily="34" charset="-120"/>
              </a:rPr>
              <a:t>HasSupportService</a:t>
            </a:r>
            <a:endParaRPr lang="en-US" sz="1000" dirty="0"/>
          </a:p>
        </p:txBody>
      </p:sp>
      <p:sp>
        <p:nvSpPr>
          <p:cNvPr id="18" name="Text 16"/>
          <p:cNvSpPr/>
          <p:nvPr/>
        </p:nvSpPr>
        <p:spPr>
          <a:xfrm>
            <a:off x="594360" y="2624328"/>
            <a:ext cx="4114800" cy="201168"/>
          </a:xfrm>
          <a:prstGeom prst="rect">
            <a:avLst/>
          </a:prstGeom>
          <a:noFill/>
          <a:ln/>
        </p:spPr>
        <p:txBody>
          <a:bodyPr wrap="square" lIns="0" tIns="0" rIns="0" bIns="0" rtlCol="0" anchor="ctr"/>
          <a:lstStyle/>
          <a:p>
            <a:pPr marL="0" indent="0">
              <a:buNone/>
            </a:pPr>
            <a:r>
              <a:rPr lang="en-US" sz="900" i="1" dirty="0">
                <a:solidFill>
                  <a:srgbClr val="6B7C93"/>
                </a:solidFill>
                <a:latin typeface="Calibri" pitchFamily="34" charset="0"/>
                <a:ea typeface="Calibri" pitchFamily="34" charset="-122"/>
                <a:cs typeface="Calibri" pitchFamily="34" charset="-120"/>
              </a:rPr>
              <a:t>1 if OnlineBackup OR TechSupport = Yes</a:t>
            </a:r>
            <a:endParaRPr lang="en-US" sz="900" dirty="0"/>
          </a:p>
        </p:txBody>
      </p:sp>
      <p:sp>
        <p:nvSpPr>
          <p:cNvPr id="19" name="Shape 17"/>
          <p:cNvSpPr/>
          <p:nvPr/>
        </p:nvSpPr>
        <p:spPr>
          <a:xfrm>
            <a:off x="457200" y="2926080"/>
            <a:ext cx="4389120" cy="475488"/>
          </a:xfrm>
          <a:prstGeom prst="rect">
            <a:avLst/>
          </a:prstGeom>
          <a:solidFill>
            <a:srgbClr val="F0F6FF"/>
          </a:solidFill>
          <a:ln w="12700">
            <a:solidFill>
              <a:srgbClr val="E0EAF5"/>
            </a:solidFill>
            <a:prstDash val="solid"/>
          </a:ln>
        </p:spPr>
        <p:txBody>
          <a:bodyPr/>
          <a:lstStyle/>
          <a:p>
            <a:endParaRPr lang="en-US"/>
          </a:p>
        </p:txBody>
      </p:sp>
      <p:sp>
        <p:nvSpPr>
          <p:cNvPr id="20" name="Shape 18"/>
          <p:cNvSpPr/>
          <p:nvPr/>
        </p:nvSpPr>
        <p:spPr>
          <a:xfrm>
            <a:off x="457200" y="2926080"/>
            <a:ext cx="45720" cy="475488"/>
          </a:xfrm>
          <a:prstGeom prst="rect">
            <a:avLst/>
          </a:prstGeom>
          <a:solidFill>
            <a:srgbClr val="2E75B6"/>
          </a:solidFill>
          <a:ln w="12700">
            <a:solidFill>
              <a:srgbClr val="2E75B6"/>
            </a:solidFill>
            <a:prstDash val="solid"/>
          </a:ln>
        </p:spPr>
        <p:txBody>
          <a:bodyPr/>
          <a:lstStyle/>
          <a:p>
            <a:endParaRPr lang="en-US"/>
          </a:p>
        </p:txBody>
      </p:sp>
      <p:sp>
        <p:nvSpPr>
          <p:cNvPr id="21" name="Text 19"/>
          <p:cNvSpPr/>
          <p:nvPr/>
        </p:nvSpPr>
        <p:spPr>
          <a:xfrm>
            <a:off x="594360" y="2962656"/>
            <a:ext cx="4114800" cy="201168"/>
          </a:xfrm>
          <a:prstGeom prst="rect">
            <a:avLst/>
          </a:prstGeom>
          <a:noFill/>
          <a:ln/>
        </p:spPr>
        <p:txBody>
          <a:bodyPr wrap="square" lIns="0" tIns="0" rIns="0" bIns="0" rtlCol="0" anchor="ctr"/>
          <a:lstStyle/>
          <a:p>
            <a:pPr marL="0" indent="0">
              <a:buNone/>
            </a:pPr>
            <a:r>
              <a:rPr lang="en-US" sz="1000" b="1" dirty="0">
                <a:solidFill>
                  <a:srgbClr val="1F3A5F"/>
                </a:solidFill>
                <a:latin typeface="Calibri" pitchFamily="34" charset="0"/>
                <a:ea typeface="Calibri" pitchFamily="34" charset="-122"/>
                <a:cs typeface="Calibri" pitchFamily="34" charset="-120"/>
              </a:rPr>
              <a:t>ChargesPerMonth</a:t>
            </a:r>
            <a:endParaRPr lang="en-US" sz="1000" dirty="0"/>
          </a:p>
        </p:txBody>
      </p:sp>
      <p:sp>
        <p:nvSpPr>
          <p:cNvPr id="22" name="Text 20"/>
          <p:cNvSpPr/>
          <p:nvPr/>
        </p:nvSpPr>
        <p:spPr>
          <a:xfrm>
            <a:off x="594360" y="3172968"/>
            <a:ext cx="4114800" cy="201168"/>
          </a:xfrm>
          <a:prstGeom prst="rect">
            <a:avLst/>
          </a:prstGeom>
          <a:noFill/>
          <a:ln/>
        </p:spPr>
        <p:txBody>
          <a:bodyPr wrap="square" lIns="0" tIns="0" rIns="0" bIns="0" rtlCol="0" anchor="ctr"/>
          <a:lstStyle/>
          <a:p>
            <a:pPr marL="0" indent="0">
              <a:buNone/>
            </a:pPr>
            <a:r>
              <a:rPr lang="en-US" sz="900" i="1" dirty="0">
                <a:solidFill>
                  <a:srgbClr val="6B7C93"/>
                </a:solidFill>
                <a:latin typeface="Calibri" pitchFamily="34" charset="0"/>
                <a:ea typeface="Calibri" pitchFamily="34" charset="-122"/>
                <a:cs typeface="Calibri" pitchFamily="34" charset="-120"/>
              </a:rPr>
              <a:t>TotalCharges ÷ Tenure (normalized value)</a:t>
            </a:r>
            <a:endParaRPr lang="en-US" sz="900" dirty="0"/>
          </a:p>
        </p:txBody>
      </p:sp>
      <p:sp>
        <p:nvSpPr>
          <p:cNvPr id="23" name="Shape 21"/>
          <p:cNvSpPr/>
          <p:nvPr/>
        </p:nvSpPr>
        <p:spPr>
          <a:xfrm>
            <a:off x="457200" y="3474720"/>
            <a:ext cx="4389120" cy="475488"/>
          </a:xfrm>
          <a:prstGeom prst="rect">
            <a:avLst/>
          </a:prstGeom>
          <a:solidFill>
            <a:srgbClr val="FFFFFF"/>
          </a:solidFill>
          <a:ln w="12700">
            <a:solidFill>
              <a:srgbClr val="E0EAF5"/>
            </a:solidFill>
            <a:prstDash val="solid"/>
          </a:ln>
        </p:spPr>
        <p:txBody>
          <a:bodyPr/>
          <a:lstStyle/>
          <a:p>
            <a:endParaRPr lang="en-US"/>
          </a:p>
        </p:txBody>
      </p:sp>
      <p:sp>
        <p:nvSpPr>
          <p:cNvPr id="24" name="Shape 22"/>
          <p:cNvSpPr/>
          <p:nvPr/>
        </p:nvSpPr>
        <p:spPr>
          <a:xfrm>
            <a:off x="457200" y="3474720"/>
            <a:ext cx="45720" cy="475488"/>
          </a:xfrm>
          <a:prstGeom prst="rect">
            <a:avLst/>
          </a:prstGeom>
          <a:solidFill>
            <a:srgbClr val="2E75B6"/>
          </a:solidFill>
          <a:ln w="12700">
            <a:solidFill>
              <a:srgbClr val="2E75B6"/>
            </a:solidFill>
            <a:prstDash val="solid"/>
          </a:ln>
        </p:spPr>
        <p:txBody>
          <a:bodyPr/>
          <a:lstStyle/>
          <a:p>
            <a:endParaRPr lang="en-US"/>
          </a:p>
        </p:txBody>
      </p:sp>
      <p:sp>
        <p:nvSpPr>
          <p:cNvPr id="25" name="Text 23"/>
          <p:cNvSpPr/>
          <p:nvPr/>
        </p:nvSpPr>
        <p:spPr>
          <a:xfrm>
            <a:off x="594360" y="3511296"/>
            <a:ext cx="4114800" cy="201168"/>
          </a:xfrm>
          <a:prstGeom prst="rect">
            <a:avLst/>
          </a:prstGeom>
          <a:noFill/>
          <a:ln/>
        </p:spPr>
        <p:txBody>
          <a:bodyPr wrap="square" lIns="0" tIns="0" rIns="0" bIns="0" rtlCol="0" anchor="ctr"/>
          <a:lstStyle/>
          <a:p>
            <a:pPr marL="0" indent="0">
              <a:buNone/>
            </a:pPr>
            <a:r>
              <a:rPr lang="en-US" sz="1000" b="1" dirty="0">
                <a:solidFill>
                  <a:srgbClr val="1F3A5F"/>
                </a:solidFill>
                <a:latin typeface="Calibri" pitchFamily="34" charset="0"/>
                <a:ea typeface="Calibri" pitchFamily="34" charset="-122"/>
                <a:cs typeface="Calibri" pitchFamily="34" charset="-120"/>
              </a:rPr>
              <a:t>IsLongTermCustomer</a:t>
            </a:r>
            <a:endParaRPr lang="en-US" sz="1000" dirty="0"/>
          </a:p>
        </p:txBody>
      </p:sp>
      <p:sp>
        <p:nvSpPr>
          <p:cNvPr id="26" name="Text 24"/>
          <p:cNvSpPr/>
          <p:nvPr/>
        </p:nvSpPr>
        <p:spPr>
          <a:xfrm>
            <a:off x="594360" y="3721608"/>
            <a:ext cx="4114800" cy="201168"/>
          </a:xfrm>
          <a:prstGeom prst="rect">
            <a:avLst/>
          </a:prstGeom>
          <a:noFill/>
          <a:ln/>
        </p:spPr>
        <p:txBody>
          <a:bodyPr wrap="square" lIns="0" tIns="0" rIns="0" bIns="0" rtlCol="0" anchor="ctr"/>
          <a:lstStyle/>
          <a:p>
            <a:pPr marL="0" indent="0">
              <a:buNone/>
            </a:pPr>
            <a:r>
              <a:rPr lang="en-US" sz="900" i="1" dirty="0">
                <a:solidFill>
                  <a:srgbClr val="6B7C93"/>
                </a:solidFill>
                <a:latin typeface="Calibri" pitchFamily="34" charset="0"/>
                <a:ea typeface="Calibri" pitchFamily="34" charset="-122"/>
                <a:cs typeface="Calibri" pitchFamily="34" charset="-120"/>
              </a:rPr>
              <a:t>1 if Tenure &gt; 24 months</a:t>
            </a:r>
            <a:endParaRPr lang="en-US" sz="900" dirty="0"/>
          </a:p>
        </p:txBody>
      </p:sp>
      <p:sp>
        <p:nvSpPr>
          <p:cNvPr id="27" name="Shape 25"/>
          <p:cNvSpPr/>
          <p:nvPr/>
        </p:nvSpPr>
        <p:spPr>
          <a:xfrm>
            <a:off x="457200" y="4023360"/>
            <a:ext cx="4389120" cy="475488"/>
          </a:xfrm>
          <a:prstGeom prst="rect">
            <a:avLst/>
          </a:prstGeom>
          <a:solidFill>
            <a:srgbClr val="F0F6FF"/>
          </a:solidFill>
          <a:ln w="12700">
            <a:solidFill>
              <a:srgbClr val="E0EAF5"/>
            </a:solidFill>
            <a:prstDash val="solid"/>
          </a:ln>
        </p:spPr>
        <p:txBody>
          <a:bodyPr/>
          <a:lstStyle/>
          <a:p>
            <a:endParaRPr lang="en-US"/>
          </a:p>
        </p:txBody>
      </p:sp>
      <p:sp>
        <p:nvSpPr>
          <p:cNvPr id="28" name="Shape 26"/>
          <p:cNvSpPr/>
          <p:nvPr/>
        </p:nvSpPr>
        <p:spPr>
          <a:xfrm>
            <a:off x="457200" y="4023360"/>
            <a:ext cx="45720" cy="475488"/>
          </a:xfrm>
          <a:prstGeom prst="rect">
            <a:avLst/>
          </a:prstGeom>
          <a:solidFill>
            <a:srgbClr val="2E75B6"/>
          </a:solidFill>
          <a:ln w="12700">
            <a:solidFill>
              <a:srgbClr val="2E75B6"/>
            </a:solidFill>
            <a:prstDash val="solid"/>
          </a:ln>
        </p:spPr>
        <p:txBody>
          <a:bodyPr/>
          <a:lstStyle/>
          <a:p>
            <a:endParaRPr lang="en-US"/>
          </a:p>
        </p:txBody>
      </p:sp>
      <p:sp>
        <p:nvSpPr>
          <p:cNvPr id="29" name="Text 27"/>
          <p:cNvSpPr/>
          <p:nvPr/>
        </p:nvSpPr>
        <p:spPr>
          <a:xfrm>
            <a:off x="594360" y="4059936"/>
            <a:ext cx="4114800" cy="201168"/>
          </a:xfrm>
          <a:prstGeom prst="rect">
            <a:avLst/>
          </a:prstGeom>
          <a:noFill/>
          <a:ln/>
        </p:spPr>
        <p:txBody>
          <a:bodyPr wrap="square" lIns="0" tIns="0" rIns="0" bIns="0" rtlCol="0" anchor="ctr"/>
          <a:lstStyle/>
          <a:p>
            <a:pPr marL="0" indent="0">
              <a:buNone/>
            </a:pPr>
            <a:r>
              <a:rPr lang="en-US" sz="1000" b="1" dirty="0">
                <a:solidFill>
                  <a:srgbClr val="1F3A5F"/>
                </a:solidFill>
                <a:latin typeface="Calibri" pitchFamily="34" charset="0"/>
                <a:ea typeface="Calibri" pitchFamily="34" charset="-122"/>
                <a:cs typeface="Calibri" pitchFamily="34" charset="-120"/>
              </a:rPr>
              <a:t>HighComplaintFlag</a:t>
            </a:r>
            <a:endParaRPr lang="en-US" sz="1000" dirty="0"/>
          </a:p>
        </p:txBody>
      </p:sp>
      <p:sp>
        <p:nvSpPr>
          <p:cNvPr id="30" name="Text 28"/>
          <p:cNvSpPr/>
          <p:nvPr/>
        </p:nvSpPr>
        <p:spPr>
          <a:xfrm>
            <a:off x="594360" y="4270248"/>
            <a:ext cx="4114800" cy="201168"/>
          </a:xfrm>
          <a:prstGeom prst="rect">
            <a:avLst/>
          </a:prstGeom>
          <a:noFill/>
          <a:ln/>
        </p:spPr>
        <p:txBody>
          <a:bodyPr wrap="square" lIns="0" tIns="0" rIns="0" bIns="0" rtlCol="0" anchor="ctr"/>
          <a:lstStyle/>
          <a:p>
            <a:pPr marL="0" indent="0">
              <a:buNone/>
            </a:pPr>
            <a:r>
              <a:rPr lang="en-US" sz="900" i="1" dirty="0">
                <a:solidFill>
                  <a:srgbClr val="6B7C93"/>
                </a:solidFill>
                <a:latin typeface="Calibri" pitchFamily="34" charset="0"/>
                <a:ea typeface="Calibri" pitchFamily="34" charset="-122"/>
                <a:cs typeface="Calibri" pitchFamily="34" charset="-120"/>
              </a:rPr>
              <a:t>1 if NumComplaints ≥ 4</a:t>
            </a:r>
            <a:endParaRPr lang="en-US" sz="900" dirty="0"/>
          </a:p>
        </p:txBody>
      </p:sp>
      <p:sp>
        <p:nvSpPr>
          <p:cNvPr id="31" name="Shape 29"/>
          <p:cNvSpPr/>
          <p:nvPr/>
        </p:nvSpPr>
        <p:spPr>
          <a:xfrm>
            <a:off x="5212080" y="1325880"/>
            <a:ext cx="3657600" cy="3291840"/>
          </a:xfrm>
          <a:prstGeom prst="rect">
            <a:avLst/>
          </a:prstGeom>
          <a:solidFill>
            <a:srgbClr val="1F3A5F"/>
          </a:solidFill>
          <a:ln w="12700">
            <a:solidFill>
              <a:srgbClr val="1F3A5F"/>
            </a:solidFill>
            <a:prstDash val="solid"/>
          </a:ln>
        </p:spPr>
        <p:txBody>
          <a:bodyPr/>
          <a:lstStyle/>
          <a:p>
            <a:endParaRPr lang="en-US"/>
          </a:p>
        </p:txBody>
      </p:sp>
      <p:sp>
        <p:nvSpPr>
          <p:cNvPr id="32" name="Text 30"/>
          <p:cNvSpPr/>
          <p:nvPr/>
        </p:nvSpPr>
        <p:spPr>
          <a:xfrm>
            <a:off x="5394960" y="1417320"/>
            <a:ext cx="3383280" cy="320040"/>
          </a:xfrm>
          <a:prstGeom prst="rect">
            <a:avLst/>
          </a:prstGeom>
          <a:noFill/>
          <a:ln/>
        </p:spPr>
        <p:txBody>
          <a:bodyPr wrap="square" lIns="0" tIns="0" rIns="0" bIns="0" rtlCol="0" anchor="ctr"/>
          <a:lstStyle/>
          <a:p>
            <a:pPr marL="0" indent="0">
              <a:buNone/>
            </a:pPr>
            <a:r>
              <a:rPr lang="en-US" sz="1200" b="1" dirty="0">
                <a:solidFill>
                  <a:srgbClr val="7EB8E8"/>
                </a:solidFill>
                <a:latin typeface="Calibri" pitchFamily="34" charset="0"/>
                <a:ea typeface="Calibri" pitchFamily="34" charset="-122"/>
                <a:cs typeface="Calibri" pitchFamily="34" charset="-120"/>
              </a:rPr>
              <a:t>⚙️  Pipeline Steps</a:t>
            </a:r>
            <a:endParaRPr lang="en-US" sz="1200" dirty="0"/>
          </a:p>
        </p:txBody>
      </p:sp>
      <p:sp>
        <p:nvSpPr>
          <p:cNvPr id="33" name="Shape 31"/>
          <p:cNvSpPr/>
          <p:nvPr/>
        </p:nvSpPr>
        <p:spPr>
          <a:xfrm>
            <a:off x="5394960" y="1874520"/>
            <a:ext cx="310896" cy="310896"/>
          </a:xfrm>
          <a:prstGeom prst="ellipse">
            <a:avLst/>
          </a:prstGeom>
          <a:solidFill>
            <a:srgbClr val="2E75B6"/>
          </a:solidFill>
          <a:ln w="12700">
            <a:solidFill>
              <a:srgbClr val="2E75B6"/>
            </a:solidFill>
            <a:prstDash val="solid"/>
          </a:ln>
        </p:spPr>
        <p:txBody>
          <a:bodyPr/>
          <a:lstStyle/>
          <a:p>
            <a:endParaRPr lang="en-US"/>
          </a:p>
        </p:txBody>
      </p:sp>
      <p:sp>
        <p:nvSpPr>
          <p:cNvPr id="34" name="Text 32"/>
          <p:cNvSpPr/>
          <p:nvPr/>
        </p:nvSpPr>
        <p:spPr>
          <a:xfrm>
            <a:off x="5394960" y="187452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5" name="Text 33"/>
          <p:cNvSpPr/>
          <p:nvPr/>
        </p:nvSpPr>
        <p:spPr>
          <a:xfrm>
            <a:off x="5806440" y="1874520"/>
            <a:ext cx="292608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Binary Encoding</a:t>
            </a:r>
            <a:endParaRPr lang="en-US" sz="1050" dirty="0"/>
          </a:p>
        </p:txBody>
      </p:sp>
      <p:sp>
        <p:nvSpPr>
          <p:cNvPr id="36" name="Text 34"/>
          <p:cNvSpPr/>
          <p:nvPr/>
        </p:nvSpPr>
        <p:spPr>
          <a:xfrm>
            <a:off x="5806440" y="2130552"/>
            <a:ext cx="2926080" cy="329184"/>
          </a:xfrm>
          <a:prstGeom prst="rect">
            <a:avLst/>
          </a:prstGeom>
          <a:noFill/>
          <a:ln/>
        </p:spPr>
        <p:txBody>
          <a:bodyPr wrap="square" lIns="0" tIns="0" rIns="0" bIns="0" rtlCol="0" anchor="t"/>
          <a:lstStyle/>
          <a:p>
            <a:pPr marL="0" indent="0">
              <a:buNone/>
            </a:pPr>
            <a:r>
              <a:rPr lang="en-US" sz="900" i="1" dirty="0">
                <a:solidFill>
                  <a:srgbClr val="CADCFC"/>
                </a:solidFill>
                <a:latin typeface="Calibri" pitchFamily="34" charset="0"/>
                <a:ea typeface="Calibri" pitchFamily="34" charset="-122"/>
                <a:cs typeface="Calibri" pitchFamily="34" charset="-120"/>
              </a:rPr>
              <a:t>Label-encode: Gender, Partner, Dependents, PhoneService, PaperlessBilling</a:t>
            </a:r>
            <a:endParaRPr lang="en-US" sz="900" dirty="0"/>
          </a:p>
        </p:txBody>
      </p:sp>
      <p:sp>
        <p:nvSpPr>
          <p:cNvPr id="37" name="Shape 35"/>
          <p:cNvSpPr/>
          <p:nvPr/>
        </p:nvSpPr>
        <p:spPr>
          <a:xfrm>
            <a:off x="5394960" y="2560320"/>
            <a:ext cx="310896" cy="310896"/>
          </a:xfrm>
          <a:prstGeom prst="ellipse">
            <a:avLst/>
          </a:prstGeom>
          <a:solidFill>
            <a:srgbClr val="2E75B6"/>
          </a:solidFill>
          <a:ln w="12700">
            <a:solidFill>
              <a:srgbClr val="2E75B6"/>
            </a:solidFill>
            <a:prstDash val="solid"/>
          </a:ln>
        </p:spPr>
        <p:txBody>
          <a:bodyPr/>
          <a:lstStyle/>
          <a:p>
            <a:endParaRPr lang="en-US"/>
          </a:p>
        </p:txBody>
      </p:sp>
      <p:sp>
        <p:nvSpPr>
          <p:cNvPr id="38" name="Text 36"/>
          <p:cNvSpPr/>
          <p:nvPr/>
        </p:nvSpPr>
        <p:spPr>
          <a:xfrm>
            <a:off x="5394960" y="256032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9" name="Text 37"/>
          <p:cNvSpPr/>
          <p:nvPr/>
        </p:nvSpPr>
        <p:spPr>
          <a:xfrm>
            <a:off x="5806440" y="2560320"/>
            <a:ext cx="292608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One-Hot Encoding</a:t>
            </a:r>
            <a:endParaRPr lang="en-US" sz="1050" dirty="0"/>
          </a:p>
        </p:txBody>
      </p:sp>
      <p:sp>
        <p:nvSpPr>
          <p:cNvPr id="40" name="Text 38"/>
          <p:cNvSpPr/>
          <p:nvPr/>
        </p:nvSpPr>
        <p:spPr>
          <a:xfrm>
            <a:off x="5806440" y="2816352"/>
            <a:ext cx="2926080" cy="329184"/>
          </a:xfrm>
          <a:prstGeom prst="rect">
            <a:avLst/>
          </a:prstGeom>
          <a:noFill/>
          <a:ln/>
        </p:spPr>
        <p:txBody>
          <a:bodyPr wrap="square" lIns="0" tIns="0" rIns="0" bIns="0" rtlCol="0" anchor="t"/>
          <a:lstStyle/>
          <a:p>
            <a:pPr marL="0" indent="0">
              <a:buNone/>
            </a:pPr>
            <a:r>
              <a:rPr lang="en-US" sz="900" i="1" dirty="0">
                <a:solidFill>
                  <a:srgbClr val="CADCFC"/>
                </a:solidFill>
                <a:latin typeface="Calibri" pitchFamily="34" charset="0"/>
                <a:ea typeface="Calibri" pitchFamily="34" charset="-122"/>
                <a:cs typeface="Calibri" pitchFamily="34" charset="-120"/>
              </a:rPr>
              <a:t>OHE (drop_first): InternetService, Contract, PaymentMethod, etc.</a:t>
            </a:r>
            <a:endParaRPr lang="en-US" sz="900" dirty="0"/>
          </a:p>
        </p:txBody>
      </p:sp>
      <p:sp>
        <p:nvSpPr>
          <p:cNvPr id="41" name="Shape 39"/>
          <p:cNvSpPr/>
          <p:nvPr/>
        </p:nvSpPr>
        <p:spPr>
          <a:xfrm>
            <a:off x="5394960" y="3246120"/>
            <a:ext cx="310896" cy="310896"/>
          </a:xfrm>
          <a:prstGeom prst="ellipse">
            <a:avLst/>
          </a:prstGeom>
          <a:solidFill>
            <a:srgbClr val="2E75B6"/>
          </a:solidFill>
          <a:ln w="12700">
            <a:solidFill>
              <a:srgbClr val="2E75B6"/>
            </a:solidFill>
            <a:prstDash val="solid"/>
          </a:ln>
        </p:spPr>
        <p:txBody>
          <a:bodyPr/>
          <a:lstStyle/>
          <a:p>
            <a:endParaRPr lang="en-US"/>
          </a:p>
        </p:txBody>
      </p:sp>
      <p:sp>
        <p:nvSpPr>
          <p:cNvPr id="42" name="Text 40"/>
          <p:cNvSpPr/>
          <p:nvPr/>
        </p:nvSpPr>
        <p:spPr>
          <a:xfrm>
            <a:off x="5394960" y="324612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3" name="Text 41"/>
          <p:cNvSpPr/>
          <p:nvPr/>
        </p:nvSpPr>
        <p:spPr>
          <a:xfrm>
            <a:off x="5806440" y="3246120"/>
            <a:ext cx="292608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Train / Test Split</a:t>
            </a:r>
            <a:endParaRPr lang="en-US" sz="1050" dirty="0"/>
          </a:p>
        </p:txBody>
      </p:sp>
      <p:sp>
        <p:nvSpPr>
          <p:cNvPr id="44" name="Text 42"/>
          <p:cNvSpPr/>
          <p:nvPr/>
        </p:nvSpPr>
        <p:spPr>
          <a:xfrm>
            <a:off x="5806440" y="3502152"/>
            <a:ext cx="2926080" cy="329184"/>
          </a:xfrm>
          <a:prstGeom prst="rect">
            <a:avLst/>
          </a:prstGeom>
          <a:noFill/>
          <a:ln/>
        </p:spPr>
        <p:txBody>
          <a:bodyPr wrap="square" lIns="0" tIns="0" rIns="0" bIns="0" rtlCol="0" anchor="t"/>
          <a:lstStyle/>
          <a:p>
            <a:pPr marL="0" indent="0">
              <a:buNone/>
            </a:pPr>
            <a:r>
              <a:rPr lang="en-US" sz="900" i="1" dirty="0">
                <a:solidFill>
                  <a:srgbClr val="CADCFC"/>
                </a:solidFill>
                <a:latin typeface="Calibri" pitchFamily="34" charset="0"/>
                <a:ea typeface="Calibri" pitchFamily="34" charset="-122"/>
                <a:cs typeface="Calibri" pitchFamily="34" charset="-120"/>
              </a:rPr>
              <a:t>80% train · 20% test · stratified by Churn label</a:t>
            </a:r>
            <a:endParaRPr lang="en-US" sz="900" dirty="0"/>
          </a:p>
        </p:txBody>
      </p:sp>
      <p:sp>
        <p:nvSpPr>
          <p:cNvPr id="45" name="Shape 43"/>
          <p:cNvSpPr/>
          <p:nvPr/>
        </p:nvSpPr>
        <p:spPr>
          <a:xfrm>
            <a:off x="5394960" y="3931920"/>
            <a:ext cx="310896" cy="310896"/>
          </a:xfrm>
          <a:prstGeom prst="ellipse">
            <a:avLst/>
          </a:prstGeom>
          <a:solidFill>
            <a:srgbClr val="2E75B6"/>
          </a:solidFill>
          <a:ln w="12700">
            <a:solidFill>
              <a:srgbClr val="2E75B6"/>
            </a:solidFill>
            <a:prstDash val="solid"/>
          </a:ln>
        </p:spPr>
        <p:txBody>
          <a:bodyPr/>
          <a:lstStyle/>
          <a:p>
            <a:endParaRPr lang="en-US"/>
          </a:p>
        </p:txBody>
      </p:sp>
      <p:sp>
        <p:nvSpPr>
          <p:cNvPr id="46" name="Text 44"/>
          <p:cNvSpPr/>
          <p:nvPr/>
        </p:nvSpPr>
        <p:spPr>
          <a:xfrm>
            <a:off x="5394960" y="393192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7" name="Text 45"/>
          <p:cNvSpPr/>
          <p:nvPr/>
        </p:nvSpPr>
        <p:spPr>
          <a:xfrm>
            <a:off x="5806440" y="3931920"/>
            <a:ext cx="292608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StandardScaler</a:t>
            </a:r>
            <a:endParaRPr lang="en-US" sz="1050" dirty="0"/>
          </a:p>
        </p:txBody>
      </p:sp>
      <p:sp>
        <p:nvSpPr>
          <p:cNvPr id="48" name="Text 46"/>
          <p:cNvSpPr/>
          <p:nvPr/>
        </p:nvSpPr>
        <p:spPr>
          <a:xfrm>
            <a:off x="5806440" y="4187952"/>
            <a:ext cx="2926080" cy="329184"/>
          </a:xfrm>
          <a:prstGeom prst="rect">
            <a:avLst/>
          </a:prstGeom>
          <a:noFill/>
          <a:ln/>
        </p:spPr>
        <p:txBody>
          <a:bodyPr wrap="square" lIns="0" tIns="0" rIns="0" bIns="0" rtlCol="0" anchor="t"/>
          <a:lstStyle/>
          <a:p>
            <a:pPr marL="0" indent="0">
              <a:buNone/>
            </a:pPr>
            <a:r>
              <a:rPr lang="en-US" sz="900" i="1" dirty="0">
                <a:solidFill>
                  <a:srgbClr val="CADCFC"/>
                </a:solidFill>
                <a:latin typeface="Calibri" pitchFamily="34" charset="0"/>
                <a:ea typeface="Calibri" pitchFamily="34" charset="-122"/>
                <a:cs typeface="Calibri" pitchFamily="34" charset="-120"/>
              </a:rPr>
              <a:t>Scale 6 numeric features on train set, transform test set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06 · Model Development</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Predictive Model — AutoML &amp; Stacking Ensemble</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4 candidates compared via 5-fold CV · Stacking Classifier chosen</a:t>
            </a:r>
            <a:endParaRPr lang="en-US" sz="1300" dirty="0"/>
          </a:p>
        </p:txBody>
      </p:sp>
      <p:pic>
        <p:nvPicPr>
          <p:cNvPr id="9" name="Image 0" descr="/home/claude/outputs/fig6_automl_comparison.png"/>
          <p:cNvPicPr>
            <a:picLocks noChangeAspect="1"/>
          </p:cNvPicPr>
          <p:nvPr/>
        </p:nvPicPr>
        <p:blipFill>
          <a:blip r:embed="rId3"/>
          <a:stretch>
            <a:fillRect/>
          </a:stretch>
        </p:blipFill>
        <p:spPr>
          <a:xfrm>
            <a:off x="274320" y="1280160"/>
            <a:ext cx="4846320" cy="2286000"/>
          </a:xfrm>
          <a:prstGeom prst="rect">
            <a:avLst/>
          </a:prstGeom>
        </p:spPr>
      </p:pic>
      <p:pic>
        <p:nvPicPr>
          <p:cNvPr id="10" name="Image 1" descr="/home/claude/outputs/fig7_model_evaluation.png"/>
          <p:cNvPicPr>
            <a:picLocks noChangeAspect="1"/>
          </p:cNvPicPr>
          <p:nvPr/>
        </p:nvPicPr>
        <p:blipFill>
          <a:blip r:embed="rId4"/>
          <a:stretch>
            <a:fillRect/>
          </a:stretch>
        </p:blipFill>
        <p:spPr>
          <a:xfrm>
            <a:off x="5303520" y="1280160"/>
            <a:ext cx="3566160" cy="2286000"/>
          </a:xfrm>
          <a:prstGeom prst="rect">
            <a:avLst/>
          </a:prstGeom>
        </p:spPr>
      </p:pic>
      <p:sp>
        <p:nvSpPr>
          <p:cNvPr id="11" name="Shape 7"/>
          <p:cNvSpPr/>
          <p:nvPr/>
        </p:nvSpPr>
        <p:spPr>
          <a:xfrm>
            <a:off x="274320" y="3703320"/>
            <a:ext cx="8595360" cy="1033272"/>
          </a:xfrm>
          <a:prstGeom prst="rect">
            <a:avLst/>
          </a:prstGeom>
          <a:solidFill>
            <a:srgbClr val="1F3A5F"/>
          </a:solidFill>
          <a:ln w="12700">
            <a:solidFill>
              <a:srgbClr val="1F3A5F"/>
            </a:solidFill>
            <a:prstDash val="solid"/>
          </a:ln>
        </p:spPr>
        <p:txBody>
          <a:bodyPr/>
          <a:lstStyle/>
          <a:p>
            <a:endParaRPr lang="en-US"/>
          </a:p>
        </p:txBody>
      </p:sp>
      <p:sp>
        <p:nvSpPr>
          <p:cNvPr id="12" name="Text 8"/>
          <p:cNvSpPr/>
          <p:nvPr/>
        </p:nvSpPr>
        <p:spPr>
          <a:xfrm>
            <a:off x="457200" y="3749040"/>
            <a:ext cx="4572000" cy="274320"/>
          </a:xfrm>
          <a:prstGeom prst="rect">
            <a:avLst/>
          </a:prstGeom>
          <a:noFill/>
          <a:ln/>
        </p:spPr>
        <p:txBody>
          <a:bodyPr wrap="square" lIns="0" tIns="0" rIns="0" bIns="0" rtlCol="0" anchor="ctr"/>
          <a:lstStyle/>
          <a:p>
            <a:pPr marL="0" indent="0">
              <a:buNone/>
            </a:pPr>
            <a:r>
              <a:rPr lang="en-US" sz="1100" b="1" dirty="0">
                <a:solidFill>
                  <a:srgbClr val="7EB8E8"/>
                </a:solidFill>
                <a:latin typeface="Calibri" pitchFamily="34" charset="0"/>
                <a:ea typeface="Calibri" pitchFamily="34" charset="-122"/>
                <a:cs typeface="Calibri" pitchFamily="34" charset="-120"/>
              </a:rPr>
              <a:t>Stacking Ensemble Architecture</a:t>
            </a:r>
            <a:endParaRPr lang="en-US" sz="1100" dirty="0"/>
          </a:p>
        </p:txBody>
      </p:sp>
      <p:sp>
        <p:nvSpPr>
          <p:cNvPr id="13" name="Shape 9"/>
          <p:cNvSpPr/>
          <p:nvPr/>
        </p:nvSpPr>
        <p:spPr>
          <a:xfrm>
            <a:off x="457200" y="4069080"/>
            <a:ext cx="1554480" cy="594360"/>
          </a:xfrm>
          <a:prstGeom prst="rect">
            <a:avLst/>
          </a:prstGeom>
          <a:solidFill>
            <a:srgbClr val="2E75B6">
              <a:alpha val="70000"/>
            </a:srgbClr>
          </a:solidFill>
          <a:ln w="12700">
            <a:solidFill>
              <a:srgbClr val="CADCFC"/>
            </a:solidFill>
            <a:prstDash val="solid"/>
          </a:ln>
        </p:spPr>
        <p:txBody>
          <a:bodyPr/>
          <a:lstStyle/>
          <a:p>
            <a:endParaRPr lang="en-US"/>
          </a:p>
        </p:txBody>
      </p:sp>
      <p:sp>
        <p:nvSpPr>
          <p:cNvPr id="14" name="Text 10"/>
          <p:cNvSpPr/>
          <p:nvPr/>
        </p:nvSpPr>
        <p:spPr>
          <a:xfrm>
            <a:off x="457200" y="4087368"/>
            <a:ext cx="155448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Base 1</a:t>
            </a:r>
            <a:endParaRPr lang="en-US" sz="900" dirty="0"/>
          </a:p>
        </p:txBody>
      </p:sp>
      <p:sp>
        <p:nvSpPr>
          <p:cNvPr id="15" name="Text 11"/>
          <p:cNvSpPr/>
          <p:nvPr/>
        </p:nvSpPr>
        <p:spPr>
          <a:xfrm>
            <a:off x="457200" y="4315968"/>
            <a:ext cx="1554480" cy="329184"/>
          </a:xfrm>
          <a:prstGeom prst="rect">
            <a:avLst/>
          </a:prstGeom>
          <a:noFill/>
          <a:ln/>
        </p:spPr>
        <p:txBody>
          <a:bodyPr wrap="square" lIns="0" tIns="0" rIns="0" bIns="0" rtlCol="0" anchor="t"/>
          <a:lstStyle/>
          <a:p>
            <a:pPr marL="0" indent="0" algn="ctr">
              <a:buNone/>
            </a:pPr>
            <a:r>
              <a:rPr lang="en-US" sz="800" dirty="0">
                <a:solidFill>
                  <a:srgbClr val="CADCFC"/>
                </a:solidFill>
                <a:latin typeface="Calibri" pitchFamily="34" charset="0"/>
                <a:ea typeface="Calibri" pitchFamily="34" charset="-122"/>
                <a:cs typeface="Calibri" pitchFamily="34" charset="-120"/>
              </a:rPr>
              <a:t>Random Forest</a:t>
            </a:r>
            <a:endParaRPr lang="en-US" sz="800" dirty="0"/>
          </a:p>
          <a:p>
            <a:pPr marL="0" indent="0" algn="ctr">
              <a:buNone/>
            </a:pPr>
            <a:r>
              <a:rPr lang="en-US" sz="800" dirty="0">
                <a:solidFill>
                  <a:srgbClr val="CADCFC"/>
                </a:solidFill>
                <a:latin typeface="Calibri" pitchFamily="34" charset="0"/>
                <a:ea typeface="Calibri" pitchFamily="34" charset="-122"/>
                <a:cs typeface="Calibri" pitchFamily="34" charset="-120"/>
              </a:rPr>
              <a:t>200 trees · depth 10</a:t>
            </a:r>
            <a:endParaRPr lang="en-US" sz="800" dirty="0"/>
          </a:p>
        </p:txBody>
      </p:sp>
      <p:sp>
        <p:nvSpPr>
          <p:cNvPr id="16" name="Shape 12"/>
          <p:cNvSpPr/>
          <p:nvPr/>
        </p:nvSpPr>
        <p:spPr>
          <a:xfrm>
            <a:off x="2167128" y="4069080"/>
            <a:ext cx="1554480" cy="594360"/>
          </a:xfrm>
          <a:prstGeom prst="rect">
            <a:avLst/>
          </a:prstGeom>
          <a:solidFill>
            <a:srgbClr val="2E75B6">
              <a:alpha val="70000"/>
            </a:srgbClr>
          </a:solidFill>
          <a:ln w="12700">
            <a:solidFill>
              <a:srgbClr val="CADCFC"/>
            </a:solidFill>
            <a:prstDash val="solid"/>
          </a:ln>
        </p:spPr>
        <p:txBody>
          <a:bodyPr/>
          <a:lstStyle/>
          <a:p>
            <a:endParaRPr lang="en-US"/>
          </a:p>
        </p:txBody>
      </p:sp>
      <p:sp>
        <p:nvSpPr>
          <p:cNvPr id="17" name="Text 13"/>
          <p:cNvSpPr/>
          <p:nvPr/>
        </p:nvSpPr>
        <p:spPr>
          <a:xfrm>
            <a:off x="2167128" y="4087368"/>
            <a:ext cx="155448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Base 2</a:t>
            </a:r>
            <a:endParaRPr lang="en-US" sz="900" dirty="0"/>
          </a:p>
        </p:txBody>
      </p:sp>
      <p:sp>
        <p:nvSpPr>
          <p:cNvPr id="18" name="Text 14"/>
          <p:cNvSpPr/>
          <p:nvPr/>
        </p:nvSpPr>
        <p:spPr>
          <a:xfrm>
            <a:off x="2167128" y="4315968"/>
            <a:ext cx="1554480" cy="329184"/>
          </a:xfrm>
          <a:prstGeom prst="rect">
            <a:avLst/>
          </a:prstGeom>
          <a:noFill/>
          <a:ln/>
        </p:spPr>
        <p:txBody>
          <a:bodyPr wrap="square" lIns="0" tIns="0" rIns="0" bIns="0" rtlCol="0" anchor="t"/>
          <a:lstStyle/>
          <a:p>
            <a:pPr marL="0" indent="0" algn="ctr">
              <a:buNone/>
            </a:pPr>
            <a:r>
              <a:rPr lang="en-US" sz="800" dirty="0">
                <a:solidFill>
                  <a:srgbClr val="CADCFC"/>
                </a:solidFill>
                <a:latin typeface="Calibri" pitchFamily="34" charset="0"/>
                <a:ea typeface="Calibri" pitchFamily="34" charset="-122"/>
                <a:cs typeface="Calibri" pitchFamily="34" charset="-120"/>
              </a:rPr>
              <a:t>Gradient Boosting</a:t>
            </a:r>
            <a:endParaRPr lang="en-US" sz="800" dirty="0"/>
          </a:p>
          <a:p>
            <a:pPr marL="0" indent="0" algn="ctr">
              <a:buNone/>
            </a:pPr>
            <a:r>
              <a:rPr lang="en-US" sz="800" dirty="0">
                <a:solidFill>
                  <a:srgbClr val="CADCFC"/>
                </a:solidFill>
                <a:latin typeface="Calibri" pitchFamily="34" charset="0"/>
                <a:ea typeface="Calibri" pitchFamily="34" charset="-122"/>
                <a:cs typeface="Calibri" pitchFamily="34" charset="-120"/>
              </a:rPr>
              <a:t>200 trees · lr 0.05</a:t>
            </a:r>
            <a:endParaRPr lang="en-US" sz="800" dirty="0"/>
          </a:p>
        </p:txBody>
      </p:sp>
      <p:sp>
        <p:nvSpPr>
          <p:cNvPr id="19" name="Shape 15"/>
          <p:cNvSpPr/>
          <p:nvPr/>
        </p:nvSpPr>
        <p:spPr>
          <a:xfrm>
            <a:off x="3877056" y="4069080"/>
            <a:ext cx="1554480" cy="594360"/>
          </a:xfrm>
          <a:prstGeom prst="rect">
            <a:avLst/>
          </a:prstGeom>
          <a:solidFill>
            <a:srgbClr val="2E75B6">
              <a:alpha val="70000"/>
            </a:srgbClr>
          </a:solidFill>
          <a:ln w="12700">
            <a:solidFill>
              <a:srgbClr val="CADCFC"/>
            </a:solidFill>
            <a:prstDash val="solid"/>
          </a:ln>
        </p:spPr>
        <p:txBody>
          <a:bodyPr/>
          <a:lstStyle/>
          <a:p>
            <a:endParaRPr lang="en-US"/>
          </a:p>
        </p:txBody>
      </p:sp>
      <p:sp>
        <p:nvSpPr>
          <p:cNvPr id="20" name="Text 16"/>
          <p:cNvSpPr/>
          <p:nvPr/>
        </p:nvSpPr>
        <p:spPr>
          <a:xfrm>
            <a:off x="3877056" y="4087368"/>
            <a:ext cx="155448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Base 3</a:t>
            </a:r>
            <a:endParaRPr lang="en-US" sz="900" dirty="0"/>
          </a:p>
        </p:txBody>
      </p:sp>
      <p:sp>
        <p:nvSpPr>
          <p:cNvPr id="21" name="Text 17"/>
          <p:cNvSpPr/>
          <p:nvPr/>
        </p:nvSpPr>
        <p:spPr>
          <a:xfrm>
            <a:off x="3877056" y="4315968"/>
            <a:ext cx="1554480" cy="329184"/>
          </a:xfrm>
          <a:prstGeom prst="rect">
            <a:avLst/>
          </a:prstGeom>
          <a:noFill/>
          <a:ln/>
        </p:spPr>
        <p:txBody>
          <a:bodyPr wrap="square" lIns="0" tIns="0" rIns="0" bIns="0" rtlCol="0" anchor="t"/>
          <a:lstStyle/>
          <a:p>
            <a:pPr marL="0" indent="0" algn="ctr">
              <a:buNone/>
            </a:pPr>
            <a:r>
              <a:rPr lang="en-US" sz="800" dirty="0">
                <a:solidFill>
                  <a:srgbClr val="CADCFC"/>
                </a:solidFill>
                <a:latin typeface="Calibri" pitchFamily="34" charset="0"/>
                <a:ea typeface="Calibri" pitchFamily="34" charset="-122"/>
                <a:cs typeface="Calibri" pitchFamily="34" charset="-120"/>
              </a:rPr>
              <a:t>Logistic Regression</a:t>
            </a:r>
            <a:endParaRPr lang="en-US" sz="800" dirty="0"/>
          </a:p>
          <a:p>
            <a:pPr marL="0" indent="0" algn="ctr">
              <a:buNone/>
            </a:pPr>
            <a:r>
              <a:rPr lang="en-US" sz="800" dirty="0">
                <a:solidFill>
                  <a:srgbClr val="CADCFC"/>
                </a:solidFill>
                <a:latin typeface="Calibri" pitchFamily="34" charset="0"/>
                <a:ea typeface="Calibri" pitchFamily="34" charset="-122"/>
                <a:cs typeface="Calibri" pitchFamily="34" charset="-120"/>
              </a:rPr>
              <a:t>max_iter 1000</a:t>
            </a:r>
            <a:endParaRPr lang="en-US" sz="800" dirty="0"/>
          </a:p>
        </p:txBody>
      </p:sp>
      <p:sp>
        <p:nvSpPr>
          <p:cNvPr id="22" name="Shape 18"/>
          <p:cNvSpPr/>
          <p:nvPr/>
        </p:nvSpPr>
        <p:spPr>
          <a:xfrm>
            <a:off x="5586984" y="4069080"/>
            <a:ext cx="1554480" cy="594360"/>
          </a:xfrm>
          <a:prstGeom prst="rect">
            <a:avLst/>
          </a:prstGeom>
          <a:solidFill>
            <a:srgbClr val="7B3F9E">
              <a:alpha val="90000"/>
            </a:srgbClr>
          </a:solidFill>
          <a:ln w="12700">
            <a:solidFill>
              <a:srgbClr val="CADCFC"/>
            </a:solidFill>
            <a:prstDash val="solid"/>
          </a:ln>
        </p:spPr>
        <p:txBody>
          <a:bodyPr/>
          <a:lstStyle/>
          <a:p>
            <a:endParaRPr lang="en-US"/>
          </a:p>
        </p:txBody>
      </p:sp>
      <p:sp>
        <p:nvSpPr>
          <p:cNvPr id="23" name="Text 19"/>
          <p:cNvSpPr/>
          <p:nvPr/>
        </p:nvSpPr>
        <p:spPr>
          <a:xfrm>
            <a:off x="5586984" y="4087368"/>
            <a:ext cx="155448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Meta</a:t>
            </a:r>
            <a:endParaRPr lang="en-US" sz="900" dirty="0"/>
          </a:p>
        </p:txBody>
      </p:sp>
      <p:sp>
        <p:nvSpPr>
          <p:cNvPr id="24" name="Text 20"/>
          <p:cNvSpPr/>
          <p:nvPr/>
        </p:nvSpPr>
        <p:spPr>
          <a:xfrm>
            <a:off x="5586984" y="4315968"/>
            <a:ext cx="1554480" cy="329184"/>
          </a:xfrm>
          <a:prstGeom prst="rect">
            <a:avLst/>
          </a:prstGeom>
          <a:noFill/>
          <a:ln/>
        </p:spPr>
        <p:txBody>
          <a:bodyPr wrap="square" lIns="0" tIns="0" rIns="0" bIns="0" rtlCol="0" anchor="t"/>
          <a:lstStyle/>
          <a:p>
            <a:pPr marL="0" indent="0" algn="ctr">
              <a:buNone/>
            </a:pPr>
            <a:r>
              <a:rPr lang="en-US" sz="800" dirty="0">
                <a:solidFill>
                  <a:srgbClr val="CADCFC"/>
                </a:solidFill>
                <a:latin typeface="Calibri" pitchFamily="34" charset="0"/>
                <a:ea typeface="Calibri" pitchFamily="34" charset="-122"/>
                <a:cs typeface="Calibri" pitchFamily="34" charset="-120"/>
              </a:rPr>
              <a:t>Logistic Regression</a:t>
            </a:r>
            <a:endParaRPr lang="en-US" sz="800" dirty="0"/>
          </a:p>
          <a:p>
            <a:pPr marL="0" indent="0" algn="ctr">
              <a:buNone/>
            </a:pPr>
            <a:r>
              <a:rPr lang="en-US" sz="800" dirty="0">
                <a:solidFill>
                  <a:srgbClr val="CADCFC"/>
                </a:solidFill>
                <a:latin typeface="Calibri" pitchFamily="34" charset="0"/>
                <a:ea typeface="Calibri" pitchFamily="34" charset="-122"/>
                <a:cs typeface="Calibri" pitchFamily="34" charset="-120"/>
              </a:rPr>
              <a:t>(meta-learner, C=0.5)</a:t>
            </a:r>
            <a:endParaRPr lang="en-US" sz="800" dirty="0"/>
          </a:p>
        </p:txBody>
      </p:sp>
      <p:sp>
        <p:nvSpPr>
          <p:cNvPr id="25" name="Shape 21"/>
          <p:cNvSpPr/>
          <p:nvPr/>
        </p:nvSpPr>
        <p:spPr>
          <a:xfrm>
            <a:off x="7296912" y="4069080"/>
            <a:ext cx="1554480" cy="594360"/>
          </a:xfrm>
          <a:prstGeom prst="rect">
            <a:avLst/>
          </a:prstGeom>
          <a:solidFill>
            <a:srgbClr val="2A7A4B">
              <a:alpha val="90000"/>
            </a:srgbClr>
          </a:solidFill>
          <a:ln w="12700">
            <a:solidFill>
              <a:srgbClr val="CADCFC"/>
            </a:solidFill>
            <a:prstDash val="solid"/>
          </a:ln>
        </p:spPr>
        <p:txBody>
          <a:bodyPr/>
          <a:lstStyle/>
          <a:p>
            <a:endParaRPr lang="en-US"/>
          </a:p>
        </p:txBody>
      </p:sp>
      <p:sp>
        <p:nvSpPr>
          <p:cNvPr id="26" name="Text 22"/>
          <p:cNvSpPr/>
          <p:nvPr/>
        </p:nvSpPr>
        <p:spPr>
          <a:xfrm>
            <a:off x="7296912" y="4087368"/>
            <a:ext cx="155448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Result</a:t>
            </a:r>
            <a:endParaRPr lang="en-US" sz="900" dirty="0"/>
          </a:p>
        </p:txBody>
      </p:sp>
      <p:sp>
        <p:nvSpPr>
          <p:cNvPr id="27" name="Text 23"/>
          <p:cNvSpPr/>
          <p:nvPr/>
        </p:nvSpPr>
        <p:spPr>
          <a:xfrm>
            <a:off x="7296912" y="4315968"/>
            <a:ext cx="1554480" cy="329184"/>
          </a:xfrm>
          <a:prstGeom prst="rect">
            <a:avLst/>
          </a:prstGeom>
          <a:noFill/>
          <a:ln/>
        </p:spPr>
        <p:txBody>
          <a:bodyPr wrap="square" lIns="0" tIns="0" rIns="0" bIns="0" rtlCol="0" anchor="t"/>
          <a:lstStyle/>
          <a:p>
            <a:pPr marL="0" indent="0" algn="ctr">
              <a:buNone/>
            </a:pPr>
            <a:r>
              <a:rPr lang="en-US" sz="800" dirty="0">
                <a:solidFill>
                  <a:srgbClr val="CADCFC"/>
                </a:solidFill>
                <a:latin typeface="Calibri" pitchFamily="34" charset="0"/>
                <a:ea typeface="Calibri" pitchFamily="34" charset="-122"/>
                <a:cs typeface="Calibri" pitchFamily="34" charset="-120"/>
              </a:rPr>
              <a:t>AUC 0.897</a:t>
            </a:r>
            <a:endParaRPr lang="en-US" sz="800" dirty="0"/>
          </a:p>
          <a:p>
            <a:pPr marL="0" indent="0" algn="ctr">
              <a:buNone/>
            </a:pPr>
            <a:r>
              <a:rPr lang="en-US" sz="800" dirty="0">
                <a:solidFill>
                  <a:srgbClr val="CADCFC"/>
                </a:solidFill>
                <a:latin typeface="Calibri" pitchFamily="34" charset="0"/>
                <a:ea typeface="Calibri" pitchFamily="34" charset="-122"/>
                <a:cs typeface="Calibri" pitchFamily="34" charset="-120"/>
              </a:rPr>
              <a:t>F1  0.723</a:t>
            </a:r>
            <a:endParaRPr lang="en-US" sz="800" dirty="0"/>
          </a:p>
        </p:txBody>
      </p:sp>
      <p:sp>
        <p:nvSpPr>
          <p:cNvPr id="28" name="Shape 24"/>
          <p:cNvSpPr/>
          <p:nvPr/>
        </p:nvSpPr>
        <p:spPr>
          <a:xfrm>
            <a:off x="2011680" y="4366260"/>
            <a:ext cx="155448" cy="0"/>
          </a:xfrm>
          <a:prstGeom prst="line">
            <a:avLst/>
          </a:prstGeom>
          <a:noFill/>
          <a:ln w="19050">
            <a:solidFill>
              <a:srgbClr val="7EB8E8"/>
            </a:solidFill>
            <a:prstDash val="solid"/>
          </a:ln>
        </p:spPr>
        <p:txBody>
          <a:bodyPr/>
          <a:lstStyle/>
          <a:p>
            <a:endParaRPr lang="en-US"/>
          </a:p>
        </p:txBody>
      </p:sp>
      <p:sp>
        <p:nvSpPr>
          <p:cNvPr id="29" name="Shape 25"/>
          <p:cNvSpPr/>
          <p:nvPr/>
        </p:nvSpPr>
        <p:spPr>
          <a:xfrm>
            <a:off x="3721608" y="4366260"/>
            <a:ext cx="155448" cy="0"/>
          </a:xfrm>
          <a:prstGeom prst="line">
            <a:avLst/>
          </a:prstGeom>
          <a:noFill/>
          <a:ln w="19050">
            <a:solidFill>
              <a:srgbClr val="7EB8E8"/>
            </a:solidFill>
            <a:prstDash val="solid"/>
          </a:ln>
        </p:spPr>
        <p:txBody>
          <a:bodyPr/>
          <a:lstStyle/>
          <a:p>
            <a:endParaRPr lang="en-US"/>
          </a:p>
        </p:txBody>
      </p:sp>
      <p:sp>
        <p:nvSpPr>
          <p:cNvPr id="30" name="Shape 26"/>
          <p:cNvSpPr/>
          <p:nvPr/>
        </p:nvSpPr>
        <p:spPr>
          <a:xfrm>
            <a:off x="5431536" y="4366260"/>
            <a:ext cx="155448" cy="0"/>
          </a:xfrm>
          <a:prstGeom prst="line">
            <a:avLst/>
          </a:prstGeom>
          <a:noFill/>
          <a:ln w="19050">
            <a:solidFill>
              <a:srgbClr val="7EB8E8"/>
            </a:solidFill>
            <a:prstDash val="solid"/>
          </a:ln>
        </p:spPr>
        <p:txBody>
          <a:bodyPr/>
          <a:lstStyle/>
          <a:p>
            <a:endParaRPr lang="en-US"/>
          </a:p>
        </p:txBody>
      </p:sp>
      <p:sp>
        <p:nvSpPr>
          <p:cNvPr id="31" name="Shape 27"/>
          <p:cNvSpPr/>
          <p:nvPr/>
        </p:nvSpPr>
        <p:spPr>
          <a:xfrm>
            <a:off x="7141464" y="4366260"/>
            <a:ext cx="155448" cy="0"/>
          </a:xfrm>
          <a:prstGeom prst="line">
            <a:avLst/>
          </a:prstGeom>
          <a:noFill/>
          <a:ln w="19050">
            <a:solidFill>
              <a:srgbClr val="7EB8E8"/>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07 · Explainability</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Model Explainability — SHAP</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Permutation importance (global) + individual prediction breakdown</a:t>
            </a:r>
            <a:endParaRPr lang="en-US" sz="1300" dirty="0"/>
          </a:p>
        </p:txBody>
      </p:sp>
      <p:sp>
        <p:nvSpPr>
          <p:cNvPr id="11" name="Shape 7"/>
          <p:cNvSpPr/>
          <p:nvPr/>
        </p:nvSpPr>
        <p:spPr>
          <a:xfrm>
            <a:off x="274320" y="4023360"/>
            <a:ext cx="8595360" cy="713232"/>
          </a:xfrm>
          <a:prstGeom prst="rect">
            <a:avLst/>
          </a:prstGeom>
          <a:solidFill>
            <a:srgbClr val="D6E4F7"/>
          </a:solidFill>
          <a:ln w="12700">
            <a:solidFill>
              <a:srgbClr val="C2D8F0"/>
            </a:solidFill>
            <a:prstDash val="solid"/>
          </a:ln>
        </p:spPr>
        <p:txBody>
          <a:bodyPr/>
          <a:lstStyle/>
          <a:p>
            <a:endParaRPr lang="en-US"/>
          </a:p>
        </p:txBody>
      </p:sp>
      <p:sp>
        <p:nvSpPr>
          <p:cNvPr id="12" name="Text 8"/>
          <p:cNvSpPr/>
          <p:nvPr/>
        </p:nvSpPr>
        <p:spPr>
          <a:xfrm>
            <a:off x="457200" y="4069080"/>
            <a:ext cx="8321040" cy="320040"/>
          </a:xfrm>
          <a:prstGeom prst="rect">
            <a:avLst/>
          </a:prstGeom>
          <a:noFill/>
          <a:ln/>
        </p:spPr>
        <p:txBody>
          <a:bodyPr wrap="square" lIns="0" tIns="0" rIns="0" bIns="0" rtlCol="0" anchor="t"/>
          <a:lstStyle/>
          <a:p>
            <a:pPr marL="0" indent="0">
              <a:buNone/>
            </a:pPr>
            <a:r>
              <a:rPr lang="en-US" sz="1000" b="1" dirty="0">
                <a:solidFill>
                  <a:srgbClr val="1F3A5F"/>
                </a:solidFill>
                <a:latin typeface="Calibri" pitchFamily="34" charset="0"/>
                <a:ea typeface="Calibri" pitchFamily="34" charset="-122"/>
                <a:cs typeface="Calibri" pitchFamily="34" charset="-120"/>
              </a:rPr>
              <a:t>Top Churn Drivers:  </a:t>
            </a:r>
            <a:r>
              <a:rPr lang="en-US" sz="1000" dirty="0">
                <a:solidFill>
                  <a:srgbClr val="1A2B3C"/>
                </a:solidFill>
                <a:latin typeface="Calibri" pitchFamily="34" charset="0"/>
                <a:ea typeface="Calibri" pitchFamily="34" charset="-122"/>
                <a:cs typeface="Calibri" pitchFamily="34" charset="-120"/>
              </a:rPr>
              <a:t>① NumComplaints (↑ complaints = ↑ churn risk)   ② HighComplaintFlag (flag 4+ complaints)   ③ Month-to-Month contract   ④ Fiber Optic Internet</a:t>
            </a:r>
            <a:endParaRPr lang="en-US" sz="1000" dirty="0"/>
          </a:p>
        </p:txBody>
      </p:sp>
      <p:sp>
        <p:nvSpPr>
          <p:cNvPr id="13" name="Text 9"/>
          <p:cNvSpPr/>
          <p:nvPr/>
        </p:nvSpPr>
        <p:spPr>
          <a:xfrm>
            <a:off x="457200" y="4407408"/>
            <a:ext cx="8321040" cy="274320"/>
          </a:xfrm>
          <a:prstGeom prst="rect">
            <a:avLst/>
          </a:prstGeom>
          <a:noFill/>
          <a:ln/>
        </p:spPr>
        <p:txBody>
          <a:bodyPr wrap="square" lIns="0" tIns="0" rIns="0" bIns="0" rtlCol="0" anchor="t"/>
          <a:lstStyle/>
          <a:p>
            <a:pPr marL="0" indent="0">
              <a:buNone/>
            </a:pPr>
            <a:r>
              <a:rPr lang="en-US" sz="900" i="1" dirty="0">
                <a:solidFill>
                  <a:srgbClr val="4B5E78"/>
                </a:solidFill>
                <a:latin typeface="Calibri" pitchFamily="34" charset="0"/>
                <a:ea typeface="Calibri" pitchFamily="34" charset="-122"/>
                <a:cs typeface="Calibri" pitchFamily="34" charset="-120"/>
              </a:rPr>
              <a:t>Individual breakdown shows the attribution of each feature for a single high-risk customer (churn probability 75%+), explaining why the model flags them.</a:t>
            </a:r>
            <a:endParaRPr lang="en-US" sz="900" dirty="0"/>
          </a:p>
        </p:txBody>
      </p:sp>
      <p:pic>
        <p:nvPicPr>
          <p:cNvPr id="15" name="Picture 14">
            <a:extLst>
              <a:ext uri="{FF2B5EF4-FFF2-40B4-BE49-F238E27FC236}">
                <a16:creationId xmlns:a16="http://schemas.microsoft.com/office/drawing/2014/main" id="{94B0C11C-7962-069D-411A-9A786A33703E}"/>
              </a:ext>
            </a:extLst>
          </p:cNvPr>
          <p:cNvPicPr>
            <a:picLocks noChangeAspect="1"/>
          </p:cNvPicPr>
          <p:nvPr/>
        </p:nvPicPr>
        <p:blipFill>
          <a:blip r:embed="rId3"/>
          <a:stretch>
            <a:fillRect/>
          </a:stretch>
        </p:blipFill>
        <p:spPr>
          <a:xfrm>
            <a:off x="449580" y="1267396"/>
            <a:ext cx="2895600" cy="2646236"/>
          </a:xfrm>
          <a:prstGeom prst="rect">
            <a:avLst/>
          </a:prstGeom>
        </p:spPr>
      </p:pic>
      <p:pic>
        <p:nvPicPr>
          <p:cNvPr id="17" name="Picture 16">
            <a:extLst>
              <a:ext uri="{FF2B5EF4-FFF2-40B4-BE49-F238E27FC236}">
                <a16:creationId xmlns:a16="http://schemas.microsoft.com/office/drawing/2014/main" id="{07501695-AE60-2549-32F3-59264DC524B4}"/>
              </a:ext>
            </a:extLst>
          </p:cNvPr>
          <p:cNvPicPr>
            <a:picLocks noChangeAspect="1"/>
          </p:cNvPicPr>
          <p:nvPr/>
        </p:nvPicPr>
        <p:blipFill>
          <a:blip r:embed="rId4"/>
          <a:stretch>
            <a:fillRect/>
          </a:stretch>
        </p:blipFill>
        <p:spPr>
          <a:xfrm>
            <a:off x="3422332" y="1264158"/>
            <a:ext cx="2671702" cy="2649474"/>
          </a:xfrm>
          <a:prstGeom prst="rect">
            <a:avLst/>
          </a:prstGeom>
        </p:spPr>
      </p:pic>
      <p:pic>
        <p:nvPicPr>
          <p:cNvPr id="19" name="Picture 18">
            <a:extLst>
              <a:ext uri="{FF2B5EF4-FFF2-40B4-BE49-F238E27FC236}">
                <a16:creationId xmlns:a16="http://schemas.microsoft.com/office/drawing/2014/main" id="{FC742DB2-0145-11CF-E88A-373A58938A71}"/>
              </a:ext>
            </a:extLst>
          </p:cNvPr>
          <p:cNvPicPr>
            <a:picLocks noChangeAspect="1"/>
          </p:cNvPicPr>
          <p:nvPr/>
        </p:nvPicPr>
        <p:blipFill>
          <a:blip r:embed="rId5"/>
          <a:stretch>
            <a:fillRect/>
          </a:stretch>
        </p:blipFill>
        <p:spPr>
          <a:xfrm>
            <a:off x="6192142" y="1243584"/>
            <a:ext cx="2677538" cy="26700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08 · Fairness</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Bias Analysis &amp; Fairness</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Demographic Parity Difference across Gender, Senior Status &amp; Age Group</a:t>
            </a:r>
            <a:endParaRPr lang="en-US" sz="1300" dirty="0"/>
          </a:p>
        </p:txBody>
      </p:sp>
      <p:sp>
        <p:nvSpPr>
          <p:cNvPr id="10" name="Shape 7"/>
          <p:cNvSpPr/>
          <p:nvPr/>
        </p:nvSpPr>
        <p:spPr>
          <a:xfrm>
            <a:off x="6903720" y="1280160"/>
            <a:ext cx="1965960" cy="713232"/>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11" name="Shape 8"/>
          <p:cNvSpPr/>
          <p:nvPr/>
        </p:nvSpPr>
        <p:spPr>
          <a:xfrm>
            <a:off x="6903720" y="1280160"/>
            <a:ext cx="54864" cy="713232"/>
          </a:xfrm>
          <a:prstGeom prst="rect">
            <a:avLst/>
          </a:prstGeom>
          <a:solidFill>
            <a:srgbClr val="2A7A4B"/>
          </a:solidFill>
          <a:ln w="12700">
            <a:solidFill>
              <a:srgbClr val="2A7A4B"/>
            </a:solidFill>
            <a:prstDash val="solid"/>
          </a:ln>
        </p:spPr>
        <p:txBody>
          <a:bodyPr/>
          <a:lstStyle/>
          <a:p>
            <a:endParaRPr lang="en-US"/>
          </a:p>
        </p:txBody>
      </p:sp>
      <p:sp>
        <p:nvSpPr>
          <p:cNvPr id="12" name="Text 9"/>
          <p:cNvSpPr/>
          <p:nvPr/>
        </p:nvSpPr>
        <p:spPr>
          <a:xfrm>
            <a:off x="7040880" y="1325880"/>
            <a:ext cx="1737360" cy="256032"/>
          </a:xfrm>
          <a:prstGeom prst="rect">
            <a:avLst/>
          </a:prstGeom>
          <a:noFill/>
          <a:ln/>
        </p:spPr>
        <p:txBody>
          <a:bodyPr wrap="square" lIns="0" tIns="0" rIns="0" bIns="0" rtlCol="0" anchor="ctr"/>
          <a:lstStyle/>
          <a:p>
            <a:pPr marL="0" indent="0">
              <a:buNone/>
            </a:pPr>
            <a:r>
              <a:rPr lang="en-US" sz="1050" b="1" dirty="0">
                <a:solidFill>
                  <a:srgbClr val="1F3A5F"/>
                </a:solidFill>
                <a:latin typeface="Calibri" pitchFamily="34" charset="0"/>
                <a:ea typeface="Calibri" pitchFamily="34" charset="-122"/>
                <a:cs typeface="Calibri" pitchFamily="34" charset="-120"/>
              </a:rPr>
              <a:t>Gender</a:t>
            </a:r>
            <a:endParaRPr lang="en-US" sz="1050" dirty="0"/>
          </a:p>
        </p:txBody>
      </p:sp>
      <p:sp>
        <p:nvSpPr>
          <p:cNvPr id="13" name="Text 10"/>
          <p:cNvSpPr/>
          <p:nvPr/>
        </p:nvSpPr>
        <p:spPr>
          <a:xfrm>
            <a:off x="7040880" y="1600200"/>
            <a:ext cx="1737360" cy="256032"/>
          </a:xfrm>
          <a:prstGeom prst="rect">
            <a:avLst/>
          </a:prstGeom>
          <a:noFill/>
          <a:ln/>
        </p:spPr>
        <p:txBody>
          <a:bodyPr wrap="square" lIns="0" tIns="0" rIns="0" bIns="0" rtlCol="0" anchor="ctr"/>
          <a:lstStyle/>
          <a:p>
            <a:pPr marL="0" indent="0">
              <a:buNone/>
            </a:pPr>
            <a:r>
              <a:rPr lang="en-US" sz="1000" b="1" dirty="0">
                <a:solidFill>
                  <a:srgbClr val="2A7A4B"/>
                </a:solidFill>
                <a:latin typeface="Calibri" pitchFamily="34" charset="0"/>
                <a:ea typeface="Calibri" pitchFamily="34" charset="-122"/>
                <a:cs typeface="Calibri" pitchFamily="34" charset="-120"/>
              </a:rPr>
              <a:t>DPD = 0.001  PASS</a:t>
            </a:r>
            <a:endParaRPr lang="en-US" sz="1000" dirty="0"/>
          </a:p>
        </p:txBody>
      </p:sp>
      <p:sp>
        <p:nvSpPr>
          <p:cNvPr id="14" name="Shape 11"/>
          <p:cNvSpPr/>
          <p:nvPr/>
        </p:nvSpPr>
        <p:spPr>
          <a:xfrm>
            <a:off x="6903720" y="2121408"/>
            <a:ext cx="1965960" cy="713232"/>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15" name="Shape 12"/>
          <p:cNvSpPr/>
          <p:nvPr/>
        </p:nvSpPr>
        <p:spPr>
          <a:xfrm>
            <a:off x="6903720" y="2121408"/>
            <a:ext cx="54864" cy="713232"/>
          </a:xfrm>
          <a:prstGeom prst="rect">
            <a:avLst/>
          </a:prstGeom>
          <a:solidFill>
            <a:srgbClr val="2A7A4B"/>
          </a:solidFill>
          <a:ln w="12700">
            <a:solidFill>
              <a:srgbClr val="2A7A4B"/>
            </a:solidFill>
            <a:prstDash val="solid"/>
          </a:ln>
        </p:spPr>
        <p:txBody>
          <a:bodyPr/>
          <a:lstStyle/>
          <a:p>
            <a:endParaRPr lang="en-US"/>
          </a:p>
        </p:txBody>
      </p:sp>
      <p:sp>
        <p:nvSpPr>
          <p:cNvPr id="16" name="Text 13"/>
          <p:cNvSpPr/>
          <p:nvPr/>
        </p:nvSpPr>
        <p:spPr>
          <a:xfrm>
            <a:off x="7040880" y="2167128"/>
            <a:ext cx="1737360" cy="256032"/>
          </a:xfrm>
          <a:prstGeom prst="rect">
            <a:avLst/>
          </a:prstGeom>
          <a:noFill/>
          <a:ln/>
        </p:spPr>
        <p:txBody>
          <a:bodyPr wrap="square" lIns="0" tIns="0" rIns="0" bIns="0" rtlCol="0" anchor="ctr"/>
          <a:lstStyle/>
          <a:p>
            <a:pPr marL="0" indent="0">
              <a:buNone/>
            </a:pPr>
            <a:r>
              <a:rPr lang="en-US" sz="1050" b="1" dirty="0">
                <a:solidFill>
                  <a:srgbClr val="1F3A5F"/>
                </a:solidFill>
                <a:latin typeface="Calibri" pitchFamily="34" charset="0"/>
                <a:ea typeface="Calibri" pitchFamily="34" charset="-122"/>
                <a:cs typeface="Calibri" pitchFamily="34" charset="-120"/>
              </a:rPr>
              <a:t>Senior Status</a:t>
            </a:r>
            <a:endParaRPr lang="en-US" sz="1050" dirty="0"/>
          </a:p>
        </p:txBody>
      </p:sp>
      <p:sp>
        <p:nvSpPr>
          <p:cNvPr id="17" name="Text 14"/>
          <p:cNvSpPr/>
          <p:nvPr/>
        </p:nvSpPr>
        <p:spPr>
          <a:xfrm>
            <a:off x="7040880" y="2441448"/>
            <a:ext cx="1737360" cy="256032"/>
          </a:xfrm>
          <a:prstGeom prst="rect">
            <a:avLst/>
          </a:prstGeom>
          <a:noFill/>
          <a:ln/>
        </p:spPr>
        <p:txBody>
          <a:bodyPr wrap="square" lIns="0" tIns="0" rIns="0" bIns="0" rtlCol="0" anchor="ctr"/>
          <a:lstStyle/>
          <a:p>
            <a:pPr marL="0" indent="0">
              <a:buNone/>
            </a:pPr>
            <a:r>
              <a:rPr lang="en-US" sz="1000" b="1" dirty="0">
                <a:solidFill>
                  <a:srgbClr val="2A7A4B"/>
                </a:solidFill>
                <a:latin typeface="Calibri" pitchFamily="34" charset="0"/>
                <a:ea typeface="Calibri" pitchFamily="34" charset="-122"/>
                <a:cs typeface="Calibri" pitchFamily="34" charset="-120"/>
              </a:rPr>
              <a:t>DPD = 0.028  PASS</a:t>
            </a:r>
            <a:endParaRPr lang="en-US" sz="1000" dirty="0"/>
          </a:p>
        </p:txBody>
      </p:sp>
      <p:sp>
        <p:nvSpPr>
          <p:cNvPr id="18" name="Shape 15"/>
          <p:cNvSpPr/>
          <p:nvPr/>
        </p:nvSpPr>
        <p:spPr>
          <a:xfrm>
            <a:off x="6903720" y="2962656"/>
            <a:ext cx="1965960" cy="713232"/>
          </a:xfrm>
          <a:prstGeom prst="rect">
            <a:avLst/>
          </a:prstGeom>
          <a:solidFill>
            <a:srgbClr val="FFFFFF"/>
          </a:solidFill>
          <a:ln w="12700">
            <a:solidFill>
              <a:srgbClr val="DDE5F0"/>
            </a:solidFill>
            <a:prstDash val="solid"/>
          </a:ln>
          <a:effectLst>
            <a:outerShdw blurRad="50800" dist="12700" dir="8100000" algn="bl" rotWithShape="0">
              <a:srgbClr val="000000">
                <a:alpha val="8000"/>
              </a:srgbClr>
            </a:outerShdw>
          </a:effectLst>
        </p:spPr>
        <p:txBody>
          <a:bodyPr/>
          <a:lstStyle/>
          <a:p>
            <a:endParaRPr lang="en-US"/>
          </a:p>
        </p:txBody>
      </p:sp>
      <p:sp>
        <p:nvSpPr>
          <p:cNvPr id="19" name="Shape 16"/>
          <p:cNvSpPr/>
          <p:nvPr/>
        </p:nvSpPr>
        <p:spPr>
          <a:xfrm>
            <a:off x="6903720" y="2962656"/>
            <a:ext cx="54864" cy="713232"/>
          </a:xfrm>
          <a:prstGeom prst="rect">
            <a:avLst/>
          </a:prstGeom>
          <a:solidFill>
            <a:srgbClr val="2A7A4B"/>
          </a:solidFill>
          <a:ln w="12700">
            <a:solidFill>
              <a:srgbClr val="2A7A4B"/>
            </a:solidFill>
            <a:prstDash val="solid"/>
          </a:ln>
        </p:spPr>
        <p:txBody>
          <a:bodyPr/>
          <a:lstStyle/>
          <a:p>
            <a:endParaRPr lang="en-US"/>
          </a:p>
        </p:txBody>
      </p:sp>
      <p:sp>
        <p:nvSpPr>
          <p:cNvPr id="20" name="Text 17"/>
          <p:cNvSpPr/>
          <p:nvPr/>
        </p:nvSpPr>
        <p:spPr>
          <a:xfrm>
            <a:off x="7040880" y="3008376"/>
            <a:ext cx="1737360" cy="256032"/>
          </a:xfrm>
          <a:prstGeom prst="rect">
            <a:avLst/>
          </a:prstGeom>
          <a:noFill/>
          <a:ln/>
        </p:spPr>
        <p:txBody>
          <a:bodyPr wrap="square" lIns="0" tIns="0" rIns="0" bIns="0" rtlCol="0" anchor="ctr"/>
          <a:lstStyle/>
          <a:p>
            <a:pPr marL="0" indent="0">
              <a:buNone/>
            </a:pPr>
            <a:r>
              <a:rPr lang="en-US" sz="1050" b="1" dirty="0">
                <a:solidFill>
                  <a:srgbClr val="1F3A5F"/>
                </a:solidFill>
                <a:latin typeface="Calibri" pitchFamily="34" charset="0"/>
                <a:ea typeface="Calibri" pitchFamily="34" charset="-122"/>
                <a:cs typeface="Calibri" pitchFamily="34" charset="-120"/>
              </a:rPr>
              <a:t>Age Group</a:t>
            </a:r>
            <a:endParaRPr lang="en-US" sz="1050" dirty="0"/>
          </a:p>
        </p:txBody>
      </p:sp>
      <p:sp>
        <p:nvSpPr>
          <p:cNvPr id="21" name="Text 18"/>
          <p:cNvSpPr/>
          <p:nvPr/>
        </p:nvSpPr>
        <p:spPr>
          <a:xfrm>
            <a:off x="7040880" y="3282696"/>
            <a:ext cx="1737360" cy="256032"/>
          </a:xfrm>
          <a:prstGeom prst="rect">
            <a:avLst/>
          </a:prstGeom>
          <a:noFill/>
          <a:ln/>
        </p:spPr>
        <p:txBody>
          <a:bodyPr wrap="square" lIns="0" tIns="0" rIns="0" bIns="0" rtlCol="0" anchor="ctr"/>
          <a:lstStyle/>
          <a:p>
            <a:pPr marL="0" indent="0">
              <a:buNone/>
            </a:pPr>
            <a:r>
              <a:rPr lang="en-US" sz="1000" b="1" dirty="0">
                <a:solidFill>
                  <a:srgbClr val="2A7A4B"/>
                </a:solidFill>
                <a:latin typeface="Calibri" pitchFamily="34" charset="0"/>
                <a:ea typeface="Calibri" pitchFamily="34" charset="-122"/>
                <a:cs typeface="Calibri" pitchFamily="34" charset="-120"/>
              </a:rPr>
              <a:t>DPD = 0.041  PASS</a:t>
            </a:r>
            <a:endParaRPr lang="en-US" sz="1000" dirty="0"/>
          </a:p>
        </p:txBody>
      </p:sp>
      <p:sp>
        <p:nvSpPr>
          <p:cNvPr id="22" name="Shape 19"/>
          <p:cNvSpPr/>
          <p:nvPr/>
        </p:nvSpPr>
        <p:spPr>
          <a:xfrm>
            <a:off x="274320" y="3913632"/>
            <a:ext cx="8595360" cy="804672"/>
          </a:xfrm>
          <a:prstGeom prst="rect">
            <a:avLst/>
          </a:prstGeom>
          <a:solidFill>
            <a:srgbClr val="E8F8E8"/>
          </a:solidFill>
          <a:ln w="12700">
            <a:solidFill>
              <a:srgbClr val="B0D8B0"/>
            </a:solidFill>
            <a:prstDash val="solid"/>
          </a:ln>
        </p:spPr>
        <p:txBody>
          <a:bodyPr/>
          <a:lstStyle/>
          <a:p>
            <a:endParaRPr lang="en-US"/>
          </a:p>
        </p:txBody>
      </p:sp>
      <p:sp>
        <p:nvSpPr>
          <p:cNvPr id="23" name="Text 20"/>
          <p:cNvSpPr/>
          <p:nvPr/>
        </p:nvSpPr>
        <p:spPr>
          <a:xfrm>
            <a:off x="457200" y="3959352"/>
            <a:ext cx="8321040" cy="713232"/>
          </a:xfrm>
          <a:prstGeom prst="rect">
            <a:avLst/>
          </a:prstGeom>
          <a:noFill/>
          <a:ln/>
        </p:spPr>
        <p:txBody>
          <a:bodyPr wrap="square" lIns="0" tIns="0" rIns="0" bIns="0" rtlCol="0" anchor="ctr"/>
          <a:lstStyle/>
          <a:p>
            <a:pPr marL="0" indent="0">
              <a:buNone/>
            </a:pPr>
            <a:r>
              <a:rPr lang="en-US" sz="1000" b="1" dirty="0">
                <a:solidFill>
                  <a:srgbClr val="2A7A4B"/>
                </a:solidFill>
                <a:latin typeface="Calibri" pitchFamily="34" charset="0"/>
                <a:ea typeface="Calibri" pitchFamily="34" charset="-122"/>
                <a:cs typeface="Calibri" pitchFamily="34" charset="-120"/>
              </a:rPr>
              <a:t>✅  Fairness Conclusion:  </a:t>
            </a:r>
            <a:r>
              <a:rPr lang="en-US" sz="1000" dirty="0">
                <a:solidFill>
                  <a:srgbClr val="1A2B3C"/>
                </a:solidFill>
                <a:latin typeface="Calibri" pitchFamily="34" charset="0"/>
                <a:ea typeface="Calibri" pitchFamily="34" charset="-122"/>
                <a:cs typeface="Calibri" pitchFamily="34" charset="-120"/>
              </a:rPr>
              <a:t>All Demographic Parity Differences are well below the 0.10 threshold. The model does not systematically favor or penalize any demographic group. Senior citizens show higher true churn rates which the model correctly reflects rather than introducing bias.</a:t>
            </a:r>
            <a:endParaRPr lang="en-US" sz="1000" dirty="0"/>
          </a:p>
        </p:txBody>
      </p:sp>
      <p:pic>
        <p:nvPicPr>
          <p:cNvPr id="27" name="Picture 26">
            <a:extLst>
              <a:ext uri="{FF2B5EF4-FFF2-40B4-BE49-F238E27FC236}">
                <a16:creationId xmlns:a16="http://schemas.microsoft.com/office/drawing/2014/main" id="{3499061A-3D64-0D62-F5FF-3D1AFC4B4B68}"/>
              </a:ext>
            </a:extLst>
          </p:cNvPr>
          <p:cNvPicPr>
            <a:picLocks noChangeAspect="1"/>
          </p:cNvPicPr>
          <p:nvPr/>
        </p:nvPicPr>
        <p:blipFill>
          <a:blip r:embed="rId3"/>
          <a:stretch>
            <a:fillRect/>
          </a:stretch>
        </p:blipFill>
        <p:spPr>
          <a:xfrm>
            <a:off x="274320" y="1264920"/>
            <a:ext cx="6400799" cy="25286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09 · Deployment</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Deployment Preparation</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Packaged model · scaler · feature metadata · scoring script</a:t>
            </a:r>
            <a:endParaRPr lang="en-US" sz="1300" dirty="0"/>
          </a:p>
        </p:txBody>
      </p:sp>
      <p:sp>
        <p:nvSpPr>
          <p:cNvPr id="9" name="Shape 7"/>
          <p:cNvSpPr/>
          <p:nvPr/>
        </p:nvSpPr>
        <p:spPr>
          <a:xfrm>
            <a:off x="274320" y="1325880"/>
            <a:ext cx="4114800" cy="3246120"/>
          </a:xfrm>
          <a:prstGeom prst="rect">
            <a:avLst/>
          </a:prstGeom>
          <a:solidFill>
            <a:srgbClr val="1F3A5F"/>
          </a:solidFill>
          <a:ln w="12700">
            <a:solidFill>
              <a:srgbClr val="1F3A5F"/>
            </a:solidFill>
            <a:prstDash val="solid"/>
          </a:ln>
          <a:effectLst>
            <a:outerShdw blurRad="63500" dist="25400" dir="8100000" algn="bl" rotWithShape="0">
              <a:srgbClr val="000000">
                <a:alpha val="8000"/>
              </a:srgbClr>
            </a:outerShdw>
          </a:effectLst>
        </p:spPr>
        <p:txBody>
          <a:bodyPr/>
          <a:lstStyle/>
          <a:p>
            <a:endParaRPr lang="en-US"/>
          </a:p>
        </p:txBody>
      </p:sp>
      <p:sp>
        <p:nvSpPr>
          <p:cNvPr id="10" name="Text 8"/>
          <p:cNvSpPr/>
          <p:nvPr/>
        </p:nvSpPr>
        <p:spPr>
          <a:xfrm>
            <a:off x="457200" y="1417320"/>
            <a:ext cx="3749040" cy="320040"/>
          </a:xfrm>
          <a:prstGeom prst="rect">
            <a:avLst/>
          </a:prstGeom>
          <a:noFill/>
          <a:ln/>
        </p:spPr>
        <p:txBody>
          <a:bodyPr wrap="square" lIns="0" tIns="0" rIns="0" bIns="0" rtlCol="0" anchor="ctr"/>
          <a:lstStyle/>
          <a:p>
            <a:pPr marL="0" indent="0">
              <a:buNone/>
            </a:pPr>
            <a:r>
              <a:rPr lang="en-US" sz="1300" b="1" dirty="0">
                <a:solidFill>
                  <a:srgbClr val="7EB8E8"/>
                </a:solidFill>
                <a:latin typeface="Calibri" pitchFamily="34" charset="0"/>
                <a:ea typeface="Calibri" pitchFamily="34" charset="-122"/>
                <a:cs typeface="Calibri" pitchFamily="34" charset="-120"/>
              </a:rPr>
              <a:t>📦  model_package/</a:t>
            </a:r>
            <a:endParaRPr lang="en-US" sz="1300" dirty="0"/>
          </a:p>
        </p:txBody>
      </p:sp>
      <p:sp>
        <p:nvSpPr>
          <p:cNvPr id="11" name="Shape 9"/>
          <p:cNvSpPr/>
          <p:nvPr/>
        </p:nvSpPr>
        <p:spPr>
          <a:xfrm>
            <a:off x="457200" y="1920240"/>
            <a:ext cx="3749040" cy="548640"/>
          </a:xfrm>
          <a:prstGeom prst="rect">
            <a:avLst/>
          </a:prstGeom>
          <a:solidFill>
            <a:srgbClr val="FFFFFF">
              <a:alpha val="12000"/>
            </a:srgbClr>
          </a:solidFill>
          <a:ln w="12700">
            <a:solidFill>
              <a:srgbClr val="FFFFFF">
                <a:alpha val="40000"/>
              </a:srgbClr>
            </a:solidFill>
            <a:prstDash val="solid"/>
          </a:ln>
        </p:spPr>
        <p:txBody>
          <a:bodyPr/>
          <a:lstStyle/>
          <a:p>
            <a:endParaRPr lang="en-US"/>
          </a:p>
        </p:txBody>
      </p:sp>
      <p:sp>
        <p:nvSpPr>
          <p:cNvPr id="12" name="Text 10"/>
          <p:cNvSpPr/>
          <p:nvPr/>
        </p:nvSpPr>
        <p:spPr>
          <a:xfrm>
            <a:off x="594360" y="1965960"/>
            <a:ext cx="3474720" cy="228600"/>
          </a:xfrm>
          <a:prstGeom prst="rect">
            <a:avLst/>
          </a:prstGeom>
          <a:noFill/>
          <a:ln/>
        </p:spPr>
        <p:txBody>
          <a:bodyPr wrap="square" lIns="0" tIns="0" rIns="0" bIns="0" rtlCol="0" anchor="ctr"/>
          <a:lstStyle/>
          <a:p>
            <a:pPr marL="0" indent="0">
              <a:buNone/>
            </a:pPr>
            <a:r>
              <a:rPr lang="en-US" sz="1050" b="1" dirty="0">
                <a:solidFill>
                  <a:srgbClr val="7EB8E8"/>
                </a:solidFill>
                <a:latin typeface="Consolas" pitchFamily="34" charset="0"/>
                <a:ea typeface="Consolas" pitchFamily="34" charset="-122"/>
                <a:cs typeface="Consolas" pitchFamily="34" charset="-120"/>
              </a:rPr>
              <a:t>churn_model.pkl</a:t>
            </a:r>
            <a:endParaRPr lang="en-US" sz="1050" dirty="0"/>
          </a:p>
        </p:txBody>
      </p:sp>
      <p:sp>
        <p:nvSpPr>
          <p:cNvPr id="13" name="Text 11"/>
          <p:cNvSpPr/>
          <p:nvPr/>
        </p:nvSpPr>
        <p:spPr>
          <a:xfrm>
            <a:off x="594360" y="2212848"/>
            <a:ext cx="3474720" cy="201168"/>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Serialized Stacking Classifier (joblib)</a:t>
            </a:r>
            <a:endParaRPr lang="en-US" sz="900" dirty="0"/>
          </a:p>
        </p:txBody>
      </p:sp>
      <p:sp>
        <p:nvSpPr>
          <p:cNvPr id="14" name="Shape 12"/>
          <p:cNvSpPr/>
          <p:nvPr/>
        </p:nvSpPr>
        <p:spPr>
          <a:xfrm>
            <a:off x="457200" y="2560320"/>
            <a:ext cx="3749040" cy="548640"/>
          </a:xfrm>
          <a:prstGeom prst="rect">
            <a:avLst/>
          </a:prstGeom>
          <a:solidFill>
            <a:srgbClr val="FFFFFF">
              <a:alpha val="12000"/>
            </a:srgbClr>
          </a:solidFill>
          <a:ln w="12700">
            <a:solidFill>
              <a:srgbClr val="FFFFFF">
                <a:alpha val="40000"/>
              </a:srgbClr>
            </a:solidFill>
            <a:prstDash val="solid"/>
          </a:ln>
        </p:spPr>
        <p:txBody>
          <a:bodyPr/>
          <a:lstStyle/>
          <a:p>
            <a:endParaRPr lang="en-US"/>
          </a:p>
        </p:txBody>
      </p:sp>
      <p:sp>
        <p:nvSpPr>
          <p:cNvPr id="15" name="Text 13"/>
          <p:cNvSpPr/>
          <p:nvPr/>
        </p:nvSpPr>
        <p:spPr>
          <a:xfrm>
            <a:off x="594360" y="2606040"/>
            <a:ext cx="3474720" cy="228600"/>
          </a:xfrm>
          <a:prstGeom prst="rect">
            <a:avLst/>
          </a:prstGeom>
          <a:noFill/>
          <a:ln/>
        </p:spPr>
        <p:txBody>
          <a:bodyPr wrap="square" lIns="0" tIns="0" rIns="0" bIns="0" rtlCol="0" anchor="ctr"/>
          <a:lstStyle/>
          <a:p>
            <a:pPr marL="0" indent="0">
              <a:buNone/>
            </a:pPr>
            <a:r>
              <a:rPr lang="en-US" sz="1050" b="1" dirty="0">
                <a:solidFill>
                  <a:srgbClr val="7EB8E8"/>
                </a:solidFill>
                <a:latin typeface="Consolas" pitchFamily="34" charset="0"/>
                <a:ea typeface="Consolas" pitchFamily="34" charset="-122"/>
                <a:cs typeface="Consolas" pitchFamily="34" charset="-120"/>
              </a:rPr>
              <a:t>scaler.pkl</a:t>
            </a:r>
            <a:endParaRPr lang="en-US" sz="1050" dirty="0"/>
          </a:p>
        </p:txBody>
      </p:sp>
      <p:sp>
        <p:nvSpPr>
          <p:cNvPr id="16" name="Text 14"/>
          <p:cNvSpPr/>
          <p:nvPr/>
        </p:nvSpPr>
        <p:spPr>
          <a:xfrm>
            <a:off x="594360" y="2852928"/>
            <a:ext cx="3474720" cy="201168"/>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Fitted StandardScaler for 6 numeric features</a:t>
            </a:r>
            <a:endParaRPr lang="en-US" sz="900" dirty="0"/>
          </a:p>
        </p:txBody>
      </p:sp>
      <p:sp>
        <p:nvSpPr>
          <p:cNvPr id="17" name="Shape 15"/>
          <p:cNvSpPr/>
          <p:nvPr/>
        </p:nvSpPr>
        <p:spPr>
          <a:xfrm>
            <a:off x="457200" y="3200400"/>
            <a:ext cx="3749040" cy="548640"/>
          </a:xfrm>
          <a:prstGeom prst="rect">
            <a:avLst/>
          </a:prstGeom>
          <a:solidFill>
            <a:srgbClr val="FFFFFF">
              <a:alpha val="12000"/>
            </a:srgbClr>
          </a:solidFill>
          <a:ln w="12700">
            <a:solidFill>
              <a:srgbClr val="FFFFFF">
                <a:alpha val="40000"/>
              </a:srgbClr>
            </a:solidFill>
            <a:prstDash val="solid"/>
          </a:ln>
        </p:spPr>
        <p:txBody>
          <a:bodyPr/>
          <a:lstStyle/>
          <a:p>
            <a:endParaRPr lang="en-US"/>
          </a:p>
        </p:txBody>
      </p:sp>
      <p:sp>
        <p:nvSpPr>
          <p:cNvPr id="18" name="Text 16"/>
          <p:cNvSpPr/>
          <p:nvPr/>
        </p:nvSpPr>
        <p:spPr>
          <a:xfrm>
            <a:off x="594360" y="3246120"/>
            <a:ext cx="3474720" cy="228600"/>
          </a:xfrm>
          <a:prstGeom prst="rect">
            <a:avLst/>
          </a:prstGeom>
          <a:noFill/>
          <a:ln/>
        </p:spPr>
        <p:txBody>
          <a:bodyPr wrap="square" lIns="0" tIns="0" rIns="0" bIns="0" rtlCol="0" anchor="ctr"/>
          <a:lstStyle/>
          <a:p>
            <a:pPr marL="0" indent="0">
              <a:buNone/>
            </a:pPr>
            <a:r>
              <a:rPr lang="en-US" sz="1050" b="1" dirty="0">
                <a:solidFill>
                  <a:srgbClr val="7EB8E8"/>
                </a:solidFill>
                <a:latin typeface="Consolas" pitchFamily="34" charset="0"/>
                <a:ea typeface="Consolas" pitchFamily="34" charset="-122"/>
                <a:cs typeface="Consolas" pitchFamily="34" charset="-120"/>
              </a:rPr>
              <a:t>feature_metadata.json</a:t>
            </a:r>
            <a:endParaRPr lang="en-US" sz="1050" dirty="0"/>
          </a:p>
        </p:txBody>
      </p:sp>
      <p:sp>
        <p:nvSpPr>
          <p:cNvPr id="19" name="Text 17"/>
          <p:cNvSpPr/>
          <p:nvPr/>
        </p:nvSpPr>
        <p:spPr>
          <a:xfrm>
            <a:off x="594360" y="3493008"/>
            <a:ext cx="3474720" cy="201168"/>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Feature names, numeric cols, AUC, F1 stored as JSON</a:t>
            </a:r>
            <a:endParaRPr lang="en-US" sz="900" dirty="0"/>
          </a:p>
        </p:txBody>
      </p:sp>
      <p:sp>
        <p:nvSpPr>
          <p:cNvPr id="20" name="Shape 18"/>
          <p:cNvSpPr/>
          <p:nvPr/>
        </p:nvSpPr>
        <p:spPr>
          <a:xfrm>
            <a:off x="457200" y="3840480"/>
            <a:ext cx="3749040" cy="548640"/>
          </a:xfrm>
          <a:prstGeom prst="rect">
            <a:avLst/>
          </a:prstGeom>
          <a:solidFill>
            <a:srgbClr val="FFFFFF">
              <a:alpha val="12000"/>
            </a:srgbClr>
          </a:solidFill>
          <a:ln w="12700">
            <a:solidFill>
              <a:srgbClr val="FFFFFF">
                <a:alpha val="40000"/>
              </a:srgbClr>
            </a:solidFill>
            <a:prstDash val="solid"/>
          </a:ln>
        </p:spPr>
        <p:txBody>
          <a:bodyPr/>
          <a:lstStyle/>
          <a:p>
            <a:endParaRPr lang="en-US"/>
          </a:p>
        </p:txBody>
      </p:sp>
      <p:sp>
        <p:nvSpPr>
          <p:cNvPr id="21" name="Text 19"/>
          <p:cNvSpPr/>
          <p:nvPr/>
        </p:nvSpPr>
        <p:spPr>
          <a:xfrm>
            <a:off x="594360" y="3886200"/>
            <a:ext cx="3474720" cy="228600"/>
          </a:xfrm>
          <a:prstGeom prst="rect">
            <a:avLst/>
          </a:prstGeom>
          <a:noFill/>
          <a:ln/>
        </p:spPr>
        <p:txBody>
          <a:bodyPr wrap="square" lIns="0" tIns="0" rIns="0" bIns="0" rtlCol="0" anchor="ctr"/>
          <a:lstStyle/>
          <a:p>
            <a:pPr marL="0" indent="0">
              <a:buNone/>
            </a:pPr>
            <a:r>
              <a:rPr lang="en-US" sz="1050" b="1" dirty="0">
                <a:solidFill>
                  <a:srgbClr val="7EB8E8"/>
                </a:solidFill>
                <a:latin typeface="Consolas" pitchFamily="34" charset="0"/>
                <a:ea typeface="Consolas" pitchFamily="34" charset="-122"/>
                <a:cs typeface="Consolas" pitchFamily="34" charset="-120"/>
              </a:rPr>
              <a:t>score.py</a:t>
            </a:r>
            <a:endParaRPr lang="en-US" sz="1050" dirty="0"/>
          </a:p>
        </p:txBody>
      </p:sp>
      <p:sp>
        <p:nvSpPr>
          <p:cNvPr id="22" name="Text 20"/>
          <p:cNvSpPr/>
          <p:nvPr/>
        </p:nvSpPr>
        <p:spPr>
          <a:xfrm>
            <a:off x="594360" y="4133088"/>
            <a:ext cx="3474720" cy="201168"/>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CLI scoring script: --input CSV → --output predictions</a:t>
            </a:r>
            <a:endParaRPr lang="en-US" sz="900" dirty="0"/>
          </a:p>
        </p:txBody>
      </p:sp>
      <p:sp>
        <p:nvSpPr>
          <p:cNvPr id="23" name="Shape 21"/>
          <p:cNvSpPr/>
          <p:nvPr/>
        </p:nvSpPr>
        <p:spPr>
          <a:xfrm>
            <a:off x="4617720" y="1325880"/>
            <a:ext cx="4251960" cy="3246120"/>
          </a:xfrm>
          <a:prstGeom prst="rect">
            <a:avLst/>
          </a:prstGeom>
          <a:solidFill>
            <a:srgbClr val="1A1A2E"/>
          </a:solidFill>
          <a:ln w="12700">
            <a:solidFill>
              <a:srgbClr val="2E75B6"/>
            </a:solidFill>
            <a:prstDash val="solid"/>
          </a:ln>
        </p:spPr>
        <p:txBody>
          <a:bodyPr/>
          <a:lstStyle/>
          <a:p>
            <a:endParaRPr lang="en-US"/>
          </a:p>
        </p:txBody>
      </p:sp>
      <p:sp>
        <p:nvSpPr>
          <p:cNvPr id="24" name="Text 22"/>
          <p:cNvSpPr/>
          <p:nvPr/>
        </p:nvSpPr>
        <p:spPr>
          <a:xfrm>
            <a:off x="4754880" y="1417320"/>
            <a:ext cx="3931920" cy="274320"/>
          </a:xfrm>
          <a:prstGeom prst="rect">
            <a:avLst/>
          </a:prstGeom>
          <a:noFill/>
          <a:ln/>
        </p:spPr>
        <p:txBody>
          <a:bodyPr wrap="square" lIns="0" tIns="0" rIns="0" bIns="0" rtlCol="0" anchor="ctr"/>
          <a:lstStyle/>
          <a:p>
            <a:pPr marL="0" indent="0">
              <a:buNone/>
            </a:pPr>
            <a:r>
              <a:rPr lang="en-US" sz="1100" b="1" dirty="0">
                <a:solidFill>
                  <a:srgbClr val="7EB8E8"/>
                </a:solidFill>
                <a:latin typeface="Calibri" pitchFamily="34" charset="0"/>
                <a:ea typeface="Calibri" pitchFamily="34" charset="-122"/>
                <a:cs typeface="Calibri" pitchFamily="34" charset="-120"/>
              </a:rPr>
              <a:t>score.py — Usage &amp; Output</a:t>
            </a:r>
            <a:endParaRPr lang="en-US" sz="1100" dirty="0"/>
          </a:p>
        </p:txBody>
      </p:sp>
      <p:sp>
        <p:nvSpPr>
          <p:cNvPr id="25" name="Text 23"/>
          <p:cNvSpPr/>
          <p:nvPr/>
        </p:nvSpPr>
        <p:spPr>
          <a:xfrm>
            <a:off x="4754880" y="1783080"/>
            <a:ext cx="3931920" cy="2651760"/>
          </a:xfrm>
          <a:prstGeom prst="rect">
            <a:avLst/>
          </a:prstGeom>
          <a:noFill/>
          <a:ln/>
        </p:spPr>
        <p:txBody>
          <a:bodyPr wrap="square" lIns="0" tIns="0" rIns="0" bIns="0" rtlCol="0" anchor="t"/>
          <a:lstStyle/>
          <a:p>
            <a:pPr marL="0" indent="0">
              <a:buNone/>
            </a:pPr>
            <a:r>
              <a:rPr lang="en-US" sz="900" dirty="0">
                <a:solidFill>
                  <a:srgbClr val="6A9955"/>
                </a:solidFill>
                <a:latin typeface="Consolas" pitchFamily="34" charset="0"/>
                <a:ea typeface="Consolas" pitchFamily="34" charset="-122"/>
                <a:cs typeface="Consolas" pitchFamily="34" charset="-120"/>
              </a:rPr>
              <a:t># Run scoring on new customers
</a:t>
            </a:r>
            <a:r>
              <a:rPr lang="en-US" sz="900" dirty="0">
                <a:solidFill>
                  <a:srgbClr val="DCDCAA"/>
                </a:solidFill>
                <a:latin typeface="Consolas" pitchFamily="34" charset="0"/>
                <a:ea typeface="Consolas" pitchFamily="34" charset="-122"/>
                <a:cs typeface="Consolas" pitchFamily="34" charset="-120"/>
              </a:rPr>
              <a:t>python score.py \
</a:t>
            </a:r>
            <a:r>
              <a:rPr lang="en-US" sz="900" dirty="0">
                <a:solidFill>
                  <a:srgbClr val="9CDCFE"/>
                </a:solidFill>
                <a:latin typeface="Consolas" pitchFamily="34" charset="0"/>
                <a:ea typeface="Consolas" pitchFamily="34" charset="-122"/>
                <a:cs typeface="Consolas" pitchFamily="34" charset="-120"/>
              </a:rPr>
              <a:t>  --input  </a:t>
            </a:r>
            <a:r>
              <a:rPr lang="en-US" sz="900" dirty="0">
                <a:solidFill>
                  <a:srgbClr val="CE9178"/>
                </a:solidFill>
                <a:latin typeface="Consolas" pitchFamily="34" charset="0"/>
                <a:ea typeface="Consolas" pitchFamily="34" charset="-122"/>
                <a:cs typeface="Consolas" pitchFamily="34" charset="-120"/>
              </a:rPr>
              <a:t>new_customers.csv \
</a:t>
            </a:r>
            <a:r>
              <a:rPr lang="en-US" sz="900" dirty="0">
                <a:solidFill>
                  <a:srgbClr val="9CDCFE"/>
                </a:solidFill>
                <a:latin typeface="Consolas" pitchFamily="34" charset="0"/>
                <a:ea typeface="Consolas" pitchFamily="34" charset="-122"/>
                <a:cs typeface="Consolas" pitchFamily="34" charset="-120"/>
              </a:rPr>
              <a:t>  --output </a:t>
            </a:r>
            <a:r>
              <a:rPr lang="en-US" sz="900" dirty="0">
                <a:solidFill>
                  <a:srgbClr val="CE9178"/>
                </a:solidFill>
                <a:latin typeface="Consolas" pitchFamily="34" charset="0"/>
                <a:ea typeface="Consolas" pitchFamily="34" charset="-122"/>
                <a:cs typeface="Consolas" pitchFamily="34" charset="-120"/>
              </a:rPr>
              <a:t>predictions.csv
</a:t>
            </a:r>
            <a:r>
              <a:rPr lang="en-US" sz="900" dirty="0">
                <a:solidFill>
                  <a:srgbClr val="6A9955"/>
                </a:solidFill>
                <a:latin typeface="Consolas" pitchFamily="34" charset="0"/>
                <a:ea typeface="Consolas" pitchFamily="34" charset="-122"/>
                <a:cs typeface="Consolas" pitchFamily="34" charset="-120"/>
              </a:rPr>
              <a:t># Output columns:
</a:t>
            </a:r>
            <a:r>
              <a:rPr lang="en-US" sz="900" dirty="0">
                <a:solidFill>
                  <a:srgbClr val="9CDCFE"/>
                </a:solidFill>
                <a:latin typeface="Consolas" pitchFamily="34" charset="0"/>
                <a:ea typeface="Consolas" pitchFamily="34" charset="-122"/>
                <a:cs typeface="Consolas" pitchFamily="34" charset="-120"/>
              </a:rPr>
              <a:t>CustomerID</a:t>
            </a:r>
            <a:r>
              <a:rPr lang="en-US" sz="900" dirty="0">
                <a:solidFill>
                  <a:srgbClr val="D4D4D4"/>
                </a:solidFill>
                <a:latin typeface="Consolas" pitchFamily="34" charset="0"/>
                <a:ea typeface="Consolas" pitchFamily="34" charset="-122"/>
                <a:cs typeface="Consolas" pitchFamily="34" charset="-120"/>
              </a:rPr>
              <a:t> | </a:t>
            </a:r>
            <a:r>
              <a:rPr lang="en-US" sz="900" dirty="0">
                <a:solidFill>
                  <a:srgbClr val="9CDCFE"/>
                </a:solidFill>
                <a:latin typeface="Consolas" pitchFamily="34" charset="0"/>
                <a:ea typeface="Consolas" pitchFamily="34" charset="-122"/>
                <a:cs typeface="Consolas" pitchFamily="34" charset="-120"/>
              </a:rPr>
              <a:t>ChurnProb</a:t>
            </a:r>
            <a:r>
              <a:rPr lang="en-US" sz="900" dirty="0">
                <a:solidFill>
                  <a:srgbClr val="D4D4D4"/>
                </a:solidFill>
                <a:latin typeface="Consolas" pitchFamily="34" charset="0"/>
                <a:ea typeface="Consolas" pitchFamily="34" charset="-122"/>
                <a:cs typeface="Consolas" pitchFamily="34" charset="-120"/>
              </a:rPr>
              <a:t> | </a:t>
            </a:r>
            <a:r>
              <a:rPr lang="en-US" sz="900" dirty="0">
                <a:solidFill>
                  <a:srgbClr val="9CDCFE"/>
                </a:solidFill>
                <a:latin typeface="Consolas" pitchFamily="34" charset="0"/>
                <a:ea typeface="Consolas" pitchFamily="34" charset="-122"/>
                <a:cs typeface="Consolas" pitchFamily="34" charset="-120"/>
              </a:rPr>
              <a:t>ChurnPred</a:t>
            </a:r>
            <a:r>
              <a:rPr lang="en-US" sz="900" dirty="0">
                <a:solidFill>
                  <a:srgbClr val="D4D4D4"/>
                </a:solidFill>
                <a:latin typeface="Consolas" pitchFamily="34" charset="0"/>
                <a:ea typeface="Consolas" pitchFamily="34" charset="-122"/>
                <a:cs typeface="Consolas" pitchFamily="34" charset="-120"/>
              </a:rPr>
              <a:t> | </a:t>
            </a:r>
            <a:r>
              <a:rPr lang="en-US" sz="900" dirty="0">
                <a:solidFill>
                  <a:srgbClr val="9CDCFE"/>
                </a:solidFill>
                <a:latin typeface="Consolas" pitchFamily="34" charset="0"/>
                <a:ea typeface="Consolas" pitchFamily="34" charset="-122"/>
                <a:cs typeface="Consolas" pitchFamily="34" charset="-120"/>
              </a:rPr>
              <a:t>RiskTier
</a:t>
            </a:r>
            <a:r>
              <a:rPr lang="en-US" sz="900" dirty="0">
                <a:solidFill>
                  <a:srgbClr val="6A9955"/>
                </a:solidFill>
                <a:latin typeface="Consolas" pitchFamily="34" charset="0"/>
                <a:ea typeface="Consolas" pitchFamily="34" charset="-122"/>
                <a:cs typeface="Consolas" pitchFamily="34" charset="-120"/>
              </a:rPr>
              <a:t>
# Risk tiers assigned:
</a:t>
            </a:r>
            <a:r>
              <a:rPr lang="en-US" sz="900" dirty="0">
                <a:solidFill>
                  <a:srgbClr val="4EC9B0"/>
                </a:solidFill>
                <a:latin typeface="Consolas" pitchFamily="34" charset="0"/>
                <a:ea typeface="Consolas" pitchFamily="34" charset="-122"/>
                <a:cs typeface="Consolas" pitchFamily="34" charset="-120"/>
              </a:rPr>
              <a:t>Low    </a:t>
            </a:r>
            <a:r>
              <a:rPr lang="en-US" sz="900" dirty="0">
                <a:solidFill>
                  <a:srgbClr val="D4D4D4"/>
                </a:solidFill>
                <a:latin typeface="Consolas" pitchFamily="34" charset="0"/>
                <a:ea typeface="Consolas" pitchFamily="34" charset="-122"/>
                <a:cs typeface="Consolas" pitchFamily="34" charset="-120"/>
              </a:rPr>
              <a:t>→ ChurnProb &lt; 0.30
</a:t>
            </a:r>
            <a:r>
              <a:rPr lang="en-US" sz="900" dirty="0">
                <a:solidFill>
                  <a:srgbClr val="DCDCAA"/>
                </a:solidFill>
                <a:latin typeface="Consolas" pitchFamily="34" charset="0"/>
                <a:ea typeface="Consolas" pitchFamily="34" charset="-122"/>
                <a:cs typeface="Consolas" pitchFamily="34" charset="-120"/>
              </a:rPr>
              <a:t>Medium </a:t>
            </a:r>
            <a:r>
              <a:rPr lang="en-US" sz="900" dirty="0">
                <a:solidFill>
                  <a:srgbClr val="D4D4D4"/>
                </a:solidFill>
                <a:latin typeface="Consolas" pitchFamily="34" charset="0"/>
                <a:ea typeface="Consolas" pitchFamily="34" charset="-122"/>
                <a:cs typeface="Consolas" pitchFamily="34" charset="-120"/>
              </a:rPr>
              <a:t>→ 0.30 ≤ ChurnProb &lt; 0.60
</a:t>
            </a:r>
            <a:r>
              <a:rPr lang="en-US" sz="900" dirty="0">
                <a:solidFill>
                  <a:srgbClr val="E05C5C"/>
                </a:solidFill>
                <a:latin typeface="Consolas" pitchFamily="34" charset="0"/>
                <a:ea typeface="Consolas" pitchFamily="34" charset="-122"/>
                <a:cs typeface="Consolas" pitchFamily="34" charset="-120"/>
              </a:rPr>
              <a:t>High   </a:t>
            </a:r>
            <a:r>
              <a:rPr lang="en-US" sz="900" dirty="0">
                <a:solidFill>
                  <a:srgbClr val="D4D4D4"/>
                </a:solidFill>
                <a:latin typeface="Consolas" pitchFamily="34" charset="0"/>
                <a:ea typeface="Consolas" pitchFamily="34" charset="-122"/>
                <a:cs typeface="Consolas" pitchFamily="34" charset="-120"/>
              </a:rPr>
              <a:t>→ ChurnProb ≥ 0.60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10 · Power BI Dashboard</a:t>
            </a:r>
            <a:endParaRPr lang="en-US" sz="900" dirty="0"/>
          </a:p>
        </p:txBody>
      </p:sp>
      <p:sp>
        <p:nvSpPr>
          <p:cNvPr id="6" name="Text 4"/>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p:cNvSpPr/>
          <p:nvPr/>
        </p:nvSpPr>
        <p:spPr>
          <a:xfrm>
            <a:off x="365760" y="475488"/>
            <a:ext cx="8412480" cy="566928"/>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Power BI Dashboard — 3 Report Pages · 12 Visuals</a:t>
            </a:r>
            <a:endParaRPr lang="en-US" sz="2600" dirty="0"/>
          </a:p>
        </p:txBody>
      </p:sp>
      <p:sp>
        <p:nvSpPr>
          <p:cNvPr id="8" name="Text 6"/>
          <p:cNvSpPr/>
          <p:nvPr/>
        </p:nvSpPr>
        <p:spPr>
          <a:xfrm>
            <a:off x="365760" y="1005840"/>
            <a:ext cx="8412480" cy="292608"/>
          </a:xfrm>
          <a:prstGeom prst="rect">
            <a:avLst/>
          </a:prstGeom>
          <a:noFill/>
          <a:ln/>
        </p:spPr>
        <p:txBody>
          <a:bodyPr wrap="square" lIns="0" tIns="0" rIns="0" bIns="0" rtlCol="0" anchor="t"/>
          <a:lstStyle/>
          <a:p>
            <a:pPr marL="0" indent="0">
              <a:buNone/>
            </a:pPr>
            <a:r>
              <a:rPr lang="en-US" sz="1300" i="1" dirty="0">
                <a:solidFill>
                  <a:srgbClr val="6B7C93"/>
                </a:solidFill>
                <a:latin typeface="Calibri" pitchFamily="34" charset="0"/>
                <a:ea typeface="Calibri" pitchFamily="34" charset="-122"/>
                <a:cs typeface="Calibri" pitchFamily="34" charset="-120"/>
              </a:rPr>
              <a:t>Interactive analytics built on dashboard_main.csv</a:t>
            </a:r>
            <a:endParaRPr lang="en-US" sz="1300" dirty="0"/>
          </a:p>
        </p:txBody>
      </p:sp>
      <p:sp>
        <p:nvSpPr>
          <p:cNvPr id="9" name="Shape 7"/>
          <p:cNvSpPr/>
          <p:nvPr/>
        </p:nvSpPr>
        <p:spPr>
          <a:xfrm>
            <a:off x="274320" y="1325880"/>
            <a:ext cx="2743200" cy="3337560"/>
          </a:xfrm>
          <a:prstGeom prst="rect">
            <a:avLst/>
          </a:prstGeom>
          <a:solidFill>
            <a:srgbClr val="FFFFFF"/>
          </a:solidFill>
          <a:ln w="12700">
            <a:solidFill>
              <a:srgbClr val="DDE5F0"/>
            </a:solidFill>
            <a:prstDash val="solid"/>
          </a:ln>
          <a:effectLst>
            <a:outerShdw blurRad="63500" dist="25400" dir="8100000" algn="bl" rotWithShape="0">
              <a:srgbClr val="000000">
                <a:alpha val="10000"/>
              </a:srgbClr>
            </a:outerShdw>
          </a:effectLst>
        </p:spPr>
        <p:txBody>
          <a:bodyPr/>
          <a:lstStyle/>
          <a:p>
            <a:endParaRPr lang="en-US"/>
          </a:p>
        </p:txBody>
      </p:sp>
      <p:sp>
        <p:nvSpPr>
          <p:cNvPr id="10" name="Shape 8"/>
          <p:cNvSpPr/>
          <p:nvPr/>
        </p:nvSpPr>
        <p:spPr>
          <a:xfrm>
            <a:off x="274320" y="1325880"/>
            <a:ext cx="2743200" cy="292608"/>
          </a:xfrm>
          <a:prstGeom prst="rect">
            <a:avLst/>
          </a:prstGeom>
          <a:solidFill>
            <a:srgbClr val="2E75B6"/>
          </a:solidFill>
          <a:ln w="12700">
            <a:solidFill>
              <a:srgbClr val="2E75B6"/>
            </a:solidFill>
            <a:prstDash val="solid"/>
          </a:ln>
        </p:spPr>
        <p:txBody>
          <a:bodyPr/>
          <a:lstStyle/>
          <a:p>
            <a:endParaRPr lang="en-US"/>
          </a:p>
        </p:txBody>
      </p:sp>
      <p:sp>
        <p:nvSpPr>
          <p:cNvPr id="11" name="Text 9"/>
          <p:cNvSpPr/>
          <p:nvPr/>
        </p:nvSpPr>
        <p:spPr>
          <a:xfrm>
            <a:off x="274320" y="1344168"/>
            <a:ext cx="27432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Page 1</a:t>
            </a:r>
            <a:endParaRPr lang="en-US" sz="1000" dirty="0"/>
          </a:p>
        </p:txBody>
      </p:sp>
      <p:sp>
        <p:nvSpPr>
          <p:cNvPr id="12" name="Shape 10"/>
          <p:cNvSpPr/>
          <p:nvPr/>
        </p:nvSpPr>
        <p:spPr>
          <a:xfrm>
            <a:off x="274320" y="1618488"/>
            <a:ext cx="2743200" cy="45720"/>
          </a:xfrm>
          <a:prstGeom prst="rect">
            <a:avLst/>
          </a:prstGeom>
          <a:solidFill>
            <a:srgbClr val="F2C811"/>
          </a:solidFill>
          <a:ln w="12700">
            <a:solidFill>
              <a:srgbClr val="F2C811"/>
            </a:solidFill>
            <a:prstDash val="solid"/>
          </a:ln>
        </p:spPr>
        <p:txBody>
          <a:bodyPr/>
          <a:lstStyle/>
          <a:p>
            <a:endParaRPr lang="en-US"/>
          </a:p>
        </p:txBody>
      </p:sp>
      <p:sp>
        <p:nvSpPr>
          <p:cNvPr id="13" name="Text 11"/>
          <p:cNvSpPr/>
          <p:nvPr/>
        </p:nvSpPr>
        <p:spPr>
          <a:xfrm>
            <a:off x="384048" y="1719072"/>
            <a:ext cx="2523744"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Executive Overview</a:t>
            </a:r>
            <a:endParaRPr lang="en-US" sz="1200" dirty="0"/>
          </a:p>
        </p:txBody>
      </p:sp>
      <p:sp>
        <p:nvSpPr>
          <p:cNvPr id="14" name="Text 12"/>
          <p:cNvSpPr/>
          <p:nvPr/>
        </p:nvSpPr>
        <p:spPr>
          <a:xfrm>
            <a:off x="384048" y="2103120"/>
            <a:ext cx="2523744" cy="201168"/>
          </a:xfrm>
          <a:prstGeom prst="rect">
            <a:avLst/>
          </a:prstGeom>
          <a:noFill/>
          <a:ln/>
        </p:spPr>
        <p:txBody>
          <a:bodyPr wrap="square" lIns="0" tIns="0" rIns="0" bIns="0" rtlCol="0" anchor="ctr"/>
          <a:lstStyle/>
          <a:p>
            <a:pPr marL="0" indent="0">
              <a:buNone/>
            </a:pPr>
            <a:r>
              <a:rPr lang="en-US" sz="900" b="1" dirty="0">
                <a:solidFill>
                  <a:srgbClr val="6B7C93"/>
                </a:solidFill>
                <a:latin typeface="Calibri" pitchFamily="34" charset="0"/>
                <a:ea typeface="Calibri" pitchFamily="34" charset="-122"/>
                <a:cs typeface="Calibri" pitchFamily="34" charset="-120"/>
              </a:rPr>
              <a:t>Visuals:</a:t>
            </a:r>
            <a:endParaRPr lang="en-US" sz="900" dirty="0"/>
          </a:p>
        </p:txBody>
      </p:sp>
      <p:sp>
        <p:nvSpPr>
          <p:cNvPr id="15" name="Text 13"/>
          <p:cNvSpPr/>
          <p:nvPr/>
        </p:nvSpPr>
        <p:spPr>
          <a:xfrm>
            <a:off x="457200" y="2304288"/>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KPI Cards (4 metrics)</a:t>
            </a:r>
            <a:endParaRPr lang="en-US" sz="900" dirty="0"/>
          </a:p>
        </p:txBody>
      </p:sp>
      <p:sp>
        <p:nvSpPr>
          <p:cNvPr id="16" name="Text 14"/>
          <p:cNvSpPr/>
          <p:nvPr/>
        </p:nvSpPr>
        <p:spPr>
          <a:xfrm>
            <a:off x="457200" y="2574036"/>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Churn by Contract (bar)</a:t>
            </a:r>
            <a:endParaRPr lang="en-US" sz="900" dirty="0"/>
          </a:p>
        </p:txBody>
      </p:sp>
      <p:sp>
        <p:nvSpPr>
          <p:cNvPr id="17" name="Text 15"/>
          <p:cNvSpPr/>
          <p:nvPr/>
        </p:nvSpPr>
        <p:spPr>
          <a:xfrm>
            <a:off x="457200" y="2843784"/>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Churn by Internet Service (bar)</a:t>
            </a:r>
            <a:endParaRPr lang="en-US" sz="900" dirty="0"/>
          </a:p>
        </p:txBody>
      </p:sp>
      <p:sp>
        <p:nvSpPr>
          <p:cNvPr id="18" name="Text 16"/>
          <p:cNvSpPr/>
          <p:nvPr/>
        </p:nvSpPr>
        <p:spPr>
          <a:xfrm>
            <a:off x="457200" y="3113532"/>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Risk Tier Distribution (donut)</a:t>
            </a:r>
            <a:endParaRPr lang="en-US" sz="900" dirty="0"/>
          </a:p>
        </p:txBody>
      </p:sp>
      <p:sp>
        <p:nvSpPr>
          <p:cNvPr id="19" name="Shape 17"/>
          <p:cNvSpPr/>
          <p:nvPr/>
        </p:nvSpPr>
        <p:spPr>
          <a:xfrm>
            <a:off x="384048" y="3749040"/>
            <a:ext cx="2523744" cy="274320"/>
          </a:xfrm>
          <a:prstGeom prst="rect">
            <a:avLst/>
          </a:prstGeom>
          <a:solidFill>
            <a:srgbClr val="2E75B6">
              <a:alpha val="15000"/>
            </a:srgbClr>
          </a:solidFill>
          <a:ln w="12700">
            <a:solidFill>
              <a:srgbClr val="2E75B6">
                <a:alpha val="50000"/>
              </a:srgbClr>
            </a:solidFill>
            <a:prstDash val="solid"/>
          </a:ln>
        </p:spPr>
        <p:txBody>
          <a:bodyPr/>
          <a:lstStyle/>
          <a:p>
            <a:endParaRPr lang="en-US"/>
          </a:p>
        </p:txBody>
      </p:sp>
      <p:sp>
        <p:nvSpPr>
          <p:cNvPr id="20" name="Text 18"/>
          <p:cNvSpPr/>
          <p:nvPr/>
        </p:nvSpPr>
        <p:spPr>
          <a:xfrm>
            <a:off x="438912" y="3767328"/>
            <a:ext cx="2414016" cy="237744"/>
          </a:xfrm>
          <a:prstGeom prst="rect">
            <a:avLst/>
          </a:prstGeom>
          <a:noFill/>
          <a:ln/>
        </p:spPr>
        <p:txBody>
          <a:bodyPr wrap="square" lIns="0" tIns="0" rIns="0" bIns="0" rtlCol="0" anchor="ctr"/>
          <a:lstStyle/>
          <a:p>
            <a:pPr marL="0" indent="0">
              <a:buNone/>
            </a:pPr>
            <a:r>
              <a:rPr lang="en-US" sz="750" i="1" dirty="0">
                <a:solidFill>
                  <a:srgbClr val="4B5E78"/>
                </a:solidFill>
                <a:latin typeface="Calibri" pitchFamily="34" charset="0"/>
                <a:ea typeface="Calibri" pitchFamily="34" charset="-122"/>
                <a:cs typeface="Calibri" pitchFamily="34" charset="-120"/>
              </a:rPr>
              <a:t>Slicers: Contract · Internet Service · Gender · Risk Tier</a:t>
            </a:r>
            <a:endParaRPr lang="en-US" sz="750" dirty="0"/>
          </a:p>
        </p:txBody>
      </p:sp>
      <p:sp>
        <p:nvSpPr>
          <p:cNvPr id="21" name="Text 19"/>
          <p:cNvSpPr/>
          <p:nvPr/>
        </p:nvSpPr>
        <p:spPr>
          <a:xfrm>
            <a:off x="384048" y="4078224"/>
            <a:ext cx="2523744" cy="411480"/>
          </a:xfrm>
          <a:prstGeom prst="rect">
            <a:avLst/>
          </a:prstGeom>
          <a:noFill/>
          <a:ln/>
        </p:spPr>
        <p:txBody>
          <a:bodyPr wrap="square" lIns="0" tIns="0" rIns="0" bIns="0" rtlCol="0" anchor="ctr"/>
          <a:lstStyle/>
          <a:p>
            <a:pPr marL="0" indent="0">
              <a:buNone/>
            </a:pPr>
            <a:r>
              <a:rPr lang="en-US" sz="800" i="1" dirty="0">
                <a:solidFill>
                  <a:srgbClr val="6B7C93"/>
                </a:solidFill>
                <a:latin typeface="Calibri" pitchFamily="34" charset="0"/>
                <a:ea typeface="Calibri" pitchFamily="34" charset="-122"/>
                <a:cs typeface="Calibri" pitchFamily="34" charset="-120"/>
              </a:rPr>
              <a:t>💡 High-level churn snapshot for leadership</a:t>
            </a:r>
            <a:endParaRPr lang="en-US" sz="800" dirty="0"/>
          </a:p>
        </p:txBody>
      </p:sp>
      <p:sp>
        <p:nvSpPr>
          <p:cNvPr id="22" name="Shape 20"/>
          <p:cNvSpPr/>
          <p:nvPr/>
        </p:nvSpPr>
        <p:spPr>
          <a:xfrm>
            <a:off x="3200400" y="1325880"/>
            <a:ext cx="2743200" cy="3337560"/>
          </a:xfrm>
          <a:prstGeom prst="rect">
            <a:avLst/>
          </a:prstGeom>
          <a:solidFill>
            <a:srgbClr val="FFFFFF"/>
          </a:solidFill>
          <a:ln w="12700">
            <a:solidFill>
              <a:srgbClr val="DDE5F0"/>
            </a:solidFill>
            <a:prstDash val="solid"/>
          </a:ln>
          <a:effectLst>
            <a:outerShdw blurRad="63500" dist="25400" dir="8100000" algn="bl" rotWithShape="0">
              <a:srgbClr val="000000">
                <a:alpha val="10000"/>
              </a:srgbClr>
            </a:outerShdw>
          </a:effectLst>
        </p:spPr>
        <p:txBody>
          <a:bodyPr/>
          <a:lstStyle/>
          <a:p>
            <a:endParaRPr lang="en-US"/>
          </a:p>
        </p:txBody>
      </p:sp>
      <p:sp>
        <p:nvSpPr>
          <p:cNvPr id="23" name="Shape 21"/>
          <p:cNvSpPr/>
          <p:nvPr/>
        </p:nvSpPr>
        <p:spPr>
          <a:xfrm>
            <a:off x="3200400" y="1325880"/>
            <a:ext cx="2743200" cy="292608"/>
          </a:xfrm>
          <a:prstGeom prst="rect">
            <a:avLst/>
          </a:prstGeom>
          <a:solidFill>
            <a:srgbClr val="7B3F9E"/>
          </a:solidFill>
          <a:ln w="12700">
            <a:solidFill>
              <a:srgbClr val="7B3F9E"/>
            </a:solidFill>
            <a:prstDash val="solid"/>
          </a:ln>
        </p:spPr>
        <p:txBody>
          <a:bodyPr/>
          <a:lstStyle/>
          <a:p>
            <a:endParaRPr lang="en-US"/>
          </a:p>
        </p:txBody>
      </p:sp>
      <p:sp>
        <p:nvSpPr>
          <p:cNvPr id="24" name="Text 22"/>
          <p:cNvSpPr/>
          <p:nvPr/>
        </p:nvSpPr>
        <p:spPr>
          <a:xfrm>
            <a:off x="3200400" y="1344168"/>
            <a:ext cx="27432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Page 2</a:t>
            </a:r>
            <a:endParaRPr lang="en-US" sz="1000" dirty="0"/>
          </a:p>
        </p:txBody>
      </p:sp>
      <p:sp>
        <p:nvSpPr>
          <p:cNvPr id="25" name="Shape 23"/>
          <p:cNvSpPr/>
          <p:nvPr/>
        </p:nvSpPr>
        <p:spPr>
          <a:xfrm>
            <a:off x="3200400" y="1618488"/>
            <a:ext cx="2743200" cy="45720"/>
          </a:xfrm>
          <a:prstGeom prst="rect">
            <a:avLst/>
          </a:prstGeom>
          <a:solidFill>
            <a:srgbClr val="F2C811"/>
          </a:solidFill>
          <a:ln w="12700">
            <a:solidFill>
              <a:srgbClr val="F2C811"/>
            </a:solidFill>
            <a:prstDash val="solid"/>
          </a:ln>
        </p:spPr>
        <p:txBody>
          <a:bodyPr/>
          <a:lstStyle/>
          <a:p>
            <a:endParaRPr lang="en-US"/>
          </a:p>
        </p:txBody>
      </p:sp>
      <p:sp>
        <p:nvSpPr>
          <p:cNvPr id="26" name="Text 24"/>
          <p:cNvSpPr/>
          <p:nvPr/>
        </p:nvSpPr>
        <p:spPr>
          <a:xfrm>
            <a:off x="3310128" y="1719072"/>
            <a:ext cx="2523744"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Customer Segmentation</a:t>
            </a:r>
            <a:endParaRPr lang="en-US" sz="1200" dirty="0"/>
          </a:p>
        </p:txBody>
      </p:sp>
      <p:sp>
        <p:nvSpPr>
          <p:cNvPr id="27" name="Text 25"/>
          <p:cNvSpPr/>
          <p:nvPr/>
        </p:nvSpPr>
        <p:spPr>
          <a:xfrm>
            <a:off x="3310128" y="2103120"/>
            <a:ext cx="2523744" cy="201168"/>
          </a:xfrm>
          <a:prstGeom prst="rect">
            <a:avLst/>
          </a:prstGeom>
          <a:noFill/>
          <a:ln/>
        </p:spPr>
        <p:txBody>
          <a:bodyPr wrap="square" lIns="0" tIns="0" rIns="0" bIns="0" rtlCol="0" anchor="ctr"/>
          <a:lstStyle/>
          <a:p>
            <a:pPr marL="0" indent="0">
              <a:buNone/>
            </a:pPr>
            <a:r>
              <a:rPr lang="en-US" sz="900" b="1" dirty="0">
                <a:solidFill>
                  <a:srgbClr val="6B7C93"/>
                </a:solidFill>
                <a:latin typeface="Calibri" pitchFamily="34" charset="0"/>
                <a:ea typeface="Calibri" pitchFamily="34" charset="-122"/>
                <a:cs typeface="Calibri" pitchFamily="34" charset="-120"/>
              </a:rPr>
              <a:t>Visuals:</a:t>
            </a:r>
            <a:endParaRPr lang="en-US" sz="900" dirty="0"/>
          </a:p>
        </p:txBody>
      </p:sp>
      <p:sp>
        <p:nvSpPr>
          <p:cNvPr id="28" name="Text 26"/>
          <p:cNvSpPr/>
          <p:nvPr/>
        </p:nvSpPr>
        <p:spPr>
          <a:xfrm>
            <a:off x="3383280" y="2304288"/>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Revenue Segment vs Churn (bar)</a:t>
            </a:r>
            <a:endParaRPr lang="en-US" sz="900" dirty="0"/>
          </a:p>
        </p:txBody>
      </p:sp>
      <p:sp>
        <p:nvSpPr>
          <p:cNvPr id="29" name="Text 27"/>
          <p:cNvSpPr/>
          <p:nvPr/>
        </p:nvSpPr>
        <p:spPr>
          <a:xfrm>
            <a:off x="3383280" y="2574036"/>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Tenure Group vs Churn (bar)</a:t>
            </a:r>
            <a:endParaRPr lang="en-US" sz="900" dirty="0"/>
          </a:p>
        </p:txBody>
      </p:sp>
      <p:sp>
        <p:nvSpPr>
          <p:cNvPr id="30" name="Text 28"/>
          <p:cNvSpPr/>
          <p:nvPr/>
        </p:nvSpPr>
        <p:spPr>
          <a:xfrm>
            <a:off x="3383280" y="2843784"/>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Monthly Charges by Churn (box)</a:t>
            </a:r>
            <a:endParaRPr lang="en-US" sz="900" dirty="0"/>
          </a:p>
        </p:txBody>
      </p:sp>
      <p:sp>
        <p:nvSpPr>
          <p:cNvPr id="31" name="Text 29"/>
          <p:cNvSpPr/>
          <p:nvPr/>
        </p:nvSpPr>
        <p:spPr>
          <a:xfrm>
            <a:off x="3383280" y="3113532"/>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Churn by Payment Method (bar)</a:t>
            </a:r>
            <a:endParaRPr lang="en-US" sz="900" dirty="0"/>
          </a:p>
        </p:txBody>
      </p:sp>
      <p:sp>
        <p:nvSpPr>
          <p:cNvPr id="32" name="Shape 30"/>
          <p:cNvSpPr/>
          <p:nvPr/>
        </p:nvSpPr>
        <p:spPr>
          <a:xfrm>
            <a:off x="3310128" y="3749040"/>
            <a:ext cx="2523744" cy="274320"/>
          </a:xfrm>
          <a:prstGeom prst="rect">
            <a:avLst/>
          </a:prstGeom>
          <a:solidFill>
            <a:srgbClr val="7B3F9E">
              <a:alpha val="15000"/>
            </a:srgbClr>
          </a:solidFill>
          <a:ln w="12700">
            <a:solidFill>
              <a:srgbClr val="7B3F9E">
                <a:alpha val="50000"/>
              </a:srgbClr>
            </a:solidFill>
            <a:prstDash val="solid"/>
          </a:ln>
        </p:spPr>
        <p:txBody>
          <a:bodyPr/>
          <a:lstStyle/>
          <a:p>
            <a:endParaRPr lang="en-US"/>
          </a:p>
        </p:txBody>
      </p:sp>
      <p:sp>
        <p:nvSpPr>
          <p:cNvPr id="33" name="Text 31"/>
          <p:cNvSpPr/>
          <p:nvPr/>
        </p:nvSpPr>
        <p:spPr>
          <a:xfrm>
            <a:off x="3364992" y="3767328"/>
            <a:ext cx="2414016" cy="237744"/>
          </a:xfrm>
          <a:prstGeom prst="rect">
            <a:avLst/>
          </a:prstGeom>
          <a:noFill/>
          <a:ln/>
        </p:spPr>
        <p:txBody>
          <a:bodyPr wrap="square" lIns="0" tIns="0" rIns="0" bIns="0" rtlCol="0" anchor="ctr"/>
          <a:lstStyle/>
          <a:p>
            <a:pPr marL="0" indent="0">
              <a:buNone/>
            </a:pPr>
            <a:r>
              <a:rPr lang="en-US" sz="750" i="1" dirty="0">
                <a:solidFill>
                  <a:srgbClr val="4B5E78"/>
                </a:solidFill>
                <a:latin typeface="Calibri" pitchFamily="34" charset="0"/>
                <a:ea typeface="Calibri" pitchFamily="34" charset="-122"/>
                <a:cs typeface="Calibri" pitchFamily="34" charset="-120"/>
              </a:rPr>
              <a:t>Slicers: Revenue Segment · Tenure Group · Age Group · Contract</a:t>
            </a:r>
            <a:endParaRPr lang="en-US" sz="750" dirty="0"/>
          </a:p>
        </p:txBody>
      </p:sp>
      <p:sp>
        <p:nvSpPr>
          <p:cNvPr id="34" name="Text 32"/>
          <p:cNvSpPr/>
          <p:nvPr/>
        </p:nvSpPr>
        <p:spPr>
          <a:xfrm>
            <a:off x="3310128" y="4078224"/>
            <a:ext cx="2523744" cy="411480"/>
          </a:xfrm>
          <a:prstGeom prst="rect">
            <a:avLst/>
          </a:prstGeom>
          <a:noFill/>
          <a:ln/>
        </p:spPr>
        <p:txBody>
          <a:bodyPr wrap="square" lIns="0" tIns="0" rIns="0" bIns="0" rtlCol="0" anchor="ctr"/>
          <a:lstStyle/>
          <a:p>
            <a:pPr marL="0" indent="0">
              <a:buNone/>
            </a:pPr>
            <a:r>
              <a:rPr lang="en-US" sz="800" i="1" dirty="0">
                <a:solidFill>
                  <a:srgbClr val="6B7C93"/>
                </a:solidFill>
                <a:latin typeface="Calibri" pitchFamily="34" charset="0"/>
                <a:ea typeface="Calibri" pitchFamily="34" charset="-122"/>
                <a:cs typeface="Calibri" pitchFamily="34" charset="-120"/>
              </a:rPr>
              <a:t>💡 Drill into which segments drive churn</a:t>
            </a:r>
            <a:endParaRPr lang="en-US" sz="800" dirty="0"/>
          </a:p>
        </p:txBody>
      </p:sp>
      <p:sp>
        <p:nvSpPr>
          <p:cNvPr id="35" name="Shape 33"/>
          <p:cNvSpPr/>
          <p:nvPr/>
        </p:nvSpPr>
        <p:spPr>
          <a:xfrm>
            <a:off x="6126480" y="1325880"/>
            <a:ext cx="2743200" cy="3337560"/>
          </a:xfrm>
          <a:prstGeom prst="rect">
            <a:avLst/>
          </a:prstGeom>
          <a:solidFill>
            <a:srgbClr val="FFFFFF"/>
          </a:solidFill>
          <a:ln w="12700">
            <a:solidFill>
              <a:srgbClr val="DDE5F0"/>
            </a:solidFill>
            <a:prstDash val="solid"/>
          </a:ln>
          <a:effectLst>
            <a:outerShdw blurRad="63500" dist="25400" dir="8100000" algn="bl" rotWithShape="0">
              <a:srgbClr val="000000">
                <a:alpha val="10000"/>
              </a:srgbClr>
            </a:outerShdw>
          </a:effectLst>
        </p:spPr>
        <p:txBody>
          <a:bodyPr/>
          <a:lstStyle/>
          <a:p>
            <a:endParaRPr lang="en-US"/>
          </a:p>
        </p:txBody>
      </p:sp>
      <p:sp>
        <p:nvSpPr>
          <p:cNvPr id="36" name="Shape 34"/>
          <p:cNvSpPr/>
          <p:nvPr/>
        </p:nvSpPr>
        <p:spPr>
          <a:xfrm>
            <a:off x="6126480" y="1325880"/>
            <a:ext cx="2743200" cy="292608"/>
          </a:xfrm>
          <a:prstGeom prst="rect">
            <a:avLst/>
          </a:prstGeom>
          <a:solidFill>
            <a:srgbClr val="2A7A4B"/>
          </a:solidFill>
          <a:ln w="12700">
            <a:solidFill>
              <a:srgbClr val="2A7A4B"/>
            </a:solidFill>
            <a:prstDash val="solid"/>
          </a:ln>
        </p:spPr>
        <p:txBody>
          <a:bodyPr/>
          <a:lstStyle/>
          <a:p>
            <a:endParaRPr lang="en-US"/>
          </a:p>
        </p:txBody>
      </p:sp>
      <p:sp>
        <p:nvSpPr>
          <p:cNvPr id="37" name="Text 35"/>
          <p:cNvSpPr/>
          <p:nvPr/>
        </p:nvSpPr>
        <p:spPr>
          <a:xfrm>
            <a:off x="6126480" y="1344168"/>
            <a:ext cx="27432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Page 3</a:t>
            </a:r>
            <a:endParaRPr lang="en-US" sz="1000" dirty="0"/>
          </a:p>
        </p:txBody>
      </p:sp>
      <p:sp>
        <p:nvSpPr>
          <p:cNvPr id="38" name="Shape 36"/>
          <p:cNvSpPr/>
          <p:nvPr/>
        </p:nvSpPr>
        <p:spPr>
          <a:xfrm>
            <a:off x="6126480" y="1618488"/>
            <a:ext cx="2743200" cy="45720"/>
          </a:xfrm>
          <a:prstGeom prst="rect">
            <a:avLst/>
          </a:prstGeom>
          <a:solidFill>
            <a:srgbClr val="F2C811"/>
          </a:solidFill>
          <a:ln w="12700">
            <a:solidFill>
              <a:srgbClr val="F2C811"/>
            </a:solidFill>
            <a:prstDash val="solid"/>
          </a:ln>
        </p:spPr>
        <p:txBody>
          <a:bodyPr/>
          <a:lstStyle/>
          <a:p>
            <a:endParaRPr lang="en-US"/>
          </a:p>
        </p:txBody>
      </p:sp>
      <p:sp>
        <p:nvSpPr>
          <p:cNvPr id="39" name="Text 37"/>
          <p:cNvSpPr/>
          <p:nvPr/>
        </p:nvSpPr>
        <p:spPr>
          <a:xfrm>
            <a:off x="6236208" y="1719072"/>
            <a:ext cx="2523744"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ML Model Insights</a:t>
            </a:r>
            <a:endParaRPr lang="en-US" sz="1200" dirty="0"/>
          </a:p>
        </p:txBody>
      </p:sp>
      <p:sp>
        <p:nvSpPr>
          <p:cNvPr id="40" name="Text 38"/>
          <p:cNvSpPr/>
          <p:nvPr/>
        </p:nvSpPr>
        <p:spPr>
          <a:xfrm>
            <a:off x="6236208" y="2103120"/>
            <a:ext cx="2523744" cy="201168"/>
          </a:xfrm>
          <a:prstGeom prst="rect">
            <a:avLst/>
          </a:prstGeom>
          <a:noFill/>
          <a:ln/>
        </p:spPr>
        <p:txBody>
          <a:bodyPr wrap="square" lIns="0" tIns="0" rIns="0" bIns="0" rtlCol="0" anchor="ctr"/>
          <a:lstStyle/>
          <a:p>
            <a:pPr marL="0" indent="0">
              <a:buNone/>
            </a:pPr>
            <a:r>
              <a:rPr lang="en-US" sz="900" b="1" dirty="0">
                <a:solidFill>
                  <a:srgbClr val="6B7C93"/>
                </a:solidFill>
                <a:latin typeface="Calibri" pitchFamily="34" charset="0"/>
                <a:ea typeface="Calibri" pitchFamily="34" charset="-122"/>
                <a:cs typeface="Calibri" pitchFamily="34" charset="-120"/>
              </a:rPr>
              <a:t>Visuals:</a:t>
            </a:r>
            <a:endParaRPr lang="en-US" sz="900" dirty="0"/>
          </a:p>
        </p:txBody>
      </p:sp>
      <p:sp>
        <p:nvSpPr>
          <p:cNvPr id="41" name="Text 39"/>
          <p:cNvSpPr/>
          <p:nvPr/>
        </p:nvSpPr>
        <p:spPr>
          <a:xfrm>
            <a:off x="6309360" y="2304288"/>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Feature Importance (horizontal bar)</a:t>
            </a:r>
            <a:endParaRPr lang="en-US" sz="900" dirty="0"/>
          </a:p>
        </p:txBody>
      </p:sp>
      <p:sp>
        <p:nvSpPr>
          <p:cNvPr id="42" name="Text 40"/>
          <p:cNvSpPr/>
          <p:nvPr/>
        </p:nvSpPr>
        <p:spPr>
          <a:xfrm>
            <a:off x="6309360" y="2574036"/>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Risk Tier Count (bar)</a:t>
            </a:r>
            <a:endParaRPr lang="en-US" sz="900" dirty="0"/>
          </a:p>
        </p:txBody>
      </p:sp>
      <p:sp>
        <p:nvSpPr>
          <p:cNvPr id="43" name="Text 41"/>
          <p:cNvSpPr/>
          <p:nvPr/>
        </p:nvSpPr>
        <p:spPr>
          <a:xfrm>
            <a:off x="6309360" y="2843784"/>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Model KPI Cards (AUC · F1 · DPD)</a:t>
            </a:r>
            <a:endParaRPr lang="en-US" sz="900" dirty="0"/>
          </a:p>
        </p:txBody>
      </p:sp>
      <p:sp>
        <p:nvSpPr>
          <p:cNvPr id="44" name="Text 42"/>
          <p:cNvSpPr/>
          <p:nvPr/>
        </p:nvSpPr>
        <p:spPr>
          <a:xfrm>
            <a:off x="6309360" y="3113532"/>
            <a:ext cx="2377440" cy="246888"/>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 Fairness summary (table)</a:t>
            </a:r>
            <a:endParaRPr lang="en-US" sz="900" dirty="0"/>
          </a:p>
        </p:txBody>
      </p:sp>
      <p:sp>
        <p:nvSpPr>
          <p:cNvPr id="45" name="Shape 43"/>
          <p:cNvSpPr/>
          <p:nvPr/>
        </p:nvSpPr>
        <p:spPr>
          <a:xfrm>
            <a:off x="6236208" y="3749040"/>
            <a:ext cx="2523744" cy="274320"/>
          </a:xfrm>
          <a:prstGeom prst="rect">
            <a:avLst/>
          </a:prstGeom>
          <a:solidFill>
            <a:srgbClr val="2A7A4B">
              <a:alpha val="15000"/>
            </a:srgbClr>
          </a:solidFill>
          <a:ln w="12700">
            <a:solidFill>
              <a:srgbClr val="2A7A4B">
                <a:alpha val="50000"/>
              </a:srgbClr>
            </a:solidFill>
            <a:prstDash val="solid"/>
          </a:ln>
        </p:spPr>
        <p:txBody>
          <a:bodyPr/>
          <a:lstStyle/>
          <a:p>
            <a:endParaRPr lang="en-US"/>
          </a:p>
        </p:txBody>
      </p:sp>
      <p:sp>
        <p:nvSpPr>
          <p:cNvPr id="46" name="Text 44"/>
          <p:cNvSpPr/>
          <p:nvPr/>
        </p:nvSpPr>
        <p:spPr>
          <a:xfrm>
            <a:off x="6291072" y="3767328"/>
            <a:ext cx="2414016" cy="237744"/>
          </a:xfrm>
          <a:prstGeom prst="rect">
            <a:avLst/>
          </a:prstGeom>
          <a:noFill/>
          <a:ln/>
        </p:spPr>
        <p:txBody>
          <a:bodyPr wrap="square" lIns="0" tIns="0" rIns="0" bIns="0" rtlCol="0" anchor="ctr"/>
          <a:lstStyle/>
          <a:p>
            <a:pPr marL="0" indent="0">
              <a:buNone/>
            </a:pPr>
            <a:r>
              <a:rPr lang="en-US" sz="750" i="1" dirty="0">
                <a:solidFill>
                  <a:srgbClr val="4B5E78"/>
                </a:solidFill>
                <a:latin typeface="Calibri" pitchFamily="34" charset="0"/>
                <a:ea typeface="Calibri" pitchFamily="34" charset="-122"/>
                <a:cs typeface="Calibri" pitchFamily="34" charset="-120"/>
              </a:rPr>
              <a:t>Slicers: Risk Tier · Contract · Internet Service</a:t>
            </a:r>
            <a:endParaRPr lang="en-US" sz="750" dirty="0"/>
          </a:p>
        </p:txBody>
      </p:sp>
      <p:sp>
        <p:nvSpPr>
          <p:cNvPr id="47" name="Text 45"/>
          <p:cNvSpPr/>
          <p:nvPr/>
        </p:nvSpPr>
        <p:spPr>
          <a:xfrm>
            <a:off x="6236208" y="4078224"/>
            <a:ext cx="2523744" cy="411480"/>
          </a:xfrm>
          <a:prstGeom prst="rect">
            <a:avLst/>
          </a:prstGeom>
          <a:noFill/>
          <a:ln/>
        </p:spPr>
        <p:txBody>
          <a:bodyPr wrap="square" lIns="0" tIns="0" rIns="0" bIns="0" rtlCol="0" anchor="ctr"/>
          <a:lstStyle/>
          <a:p>
            <a:pPr marL="0" indent="0">
              <a:buNone/>
            </a:pPr>
            <a:r>
              <a:rPr lang="en-US" sz="800" i="1" dirty="0">
                <a:solidFill>
                  <a:srgbClr val="6B7C93"/>
                </a:solidFill>
                <a:latin typeface="Calibri" pitchFamily="34" charset="0"/>
                <a:ea typeface="Calibri" pitchFamily="34" charset="-122"/>
                <a:cs typeface="Calibri" pitchFamily="34" charset="-120"/>
              </a:rPr>
              <a:t>💡 Model performance &amp; explainability for analysts</a:t>
            </a:r>
            <a:endParaRPr lang="en-US" sz="800" dirty="0"/>
          </a:p>
        </p:txBody>
      </p:sp>
      <p:sp>
        <p:nvSpPr>
          <p:cNvPr id="48" name="Shape 46"/>
          <p:cNvSpPr/>
          <p:nvPr/>
        </p:nvSpPr>
        <p:spPr>
          <a:xfrm>
            <a:off x="274320" y="4663440"/>
            <a:ext cx="8595360" cy="256032"/>
          </a:xfrm>
          <a:prstGeom prst="rect">
            <a:avLst/>
          </a:prstGeom>
          <a:solidFill>
            <a:srgbClr val="FFFBE6"/>
          </a:solidFill>
          <a:ln w="12700">
            <a:solidFill>
              <a:srgbClr val="E6D800"/>
            </a:solidFill>
            <a:prstDash val="solid"/>
          </a:ln>
        </p:spPr>
        <p:txBody>
          <a:bodyPr/>
          <a:lstStyle/>
          <a:p>
            <a:endParaRPr lang="en-US"/>
          </a:p>
        </p:txBody>
      </p:sp>
      <p:sp>
        <p:nvSpPr>
          <p:cNvPr id="49" name="Shape 47"/>
          <p:cNvSpPr/>
          <p:nvPr/>
        </p:nvSpPr>
        <p:spPr>
          <a:xfrm>
            <a:off x="274320" y="4663440"/>
            <a:ext cx="64008" cy="256032"/>
          </a:xfrm>
          <a:prstGeom prst="rect">
            <a:avLst/>
          </a:prstGeom>
          <a:solidFill>
            <a:srgbClr val="F2C811"/>
          </a:solidFill>
          <a:ln w="12700">
            <a:solidFill>
              <a:srgbClr val="F2C811"/>
            </a:solidFill>
            <a:prstDash val="solid"/>
          </a:ln>
        </p:spPr>
        <p:txBody>
          <a:bodyPr/>
          <a:lstStyle/>
          <a:p>
            <a:endParaRPr lang="en-US"/>
          </a:p>
        </p:txBody>
      </p:sp>
      <p:sp>
        <p:nvSpPr>
          <p:cNvPr id="50" name="Text 48"/>
          <p:cNvSpPr/>
          <p:nvPr/>
        </p:nvSpPr>
        <p:spPr>
          <a:xfrm>
            <a:off x="457200" y="4672584"/>
            <a:ext cx="8229600" cy="219456"/>
          </a:xfrm>
          <a:prstGeom prst="rect">
            <a:avLst/>
          </a:prstGeom>
          <a:noFill/>
          <a:ln/>
        </p:spPr>
        <p:txBody>
          <a:bodyPr wrap="square" lIns="0" tIns="0" rIns="0" bIns="0" rtlCol="0" anchor="ctr"/>
          <a:lstStyle/>
          <a:p>
            <a:pPr marL="0" indent="0">
              <a:buNone/>
            </a:pPr>
            <a:r>
              <a:rPr lang="en-US" sz="850" i="1" dirty="0">
                <a:solidFill>
                  <a:srgbClr val="5C4A00"/>
                </a:solidFill>
                <a:latin typeface="Calibri" pitchFamily="34" charset="0"/>
                <a:ea typeface="Calibri" pitchFamily="34" charset="-122"/>
                <a:cs typeface="Calibri" pitchFamily="34" charset="-120"/>
              </a:rPr>
              <a:t>📁  Deliverable: DSAI4103_Customer_Churn_Dashboard.pbix  |  Data: dashboard_main.csv · dashboard_feature_importance.csv · dashboard_model_metrics.csv</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B2E14-2894-BF6A-FA1B-A42C16FF401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D3C5B35-B937-8EDA-81D9-9B37781CBA3D}"/>
              </a:ext>
            </a:extLst>
          </p:cNvPr>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a:extLst>
              <a:ext uri="{FF2B5EF4-FFF2-40B4-BE49-F238E27FC236}">
                <a16:creationId xmlns:a16="http://schemas.microsoft.com/office/drawing/2014/main" id="{2D1D7CEB-2AE7-8AFD-96FF-CE75F4CC3828}"/>
              </a:ext>
            </a:extLst>
          </p:cNvPr>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a:extLst>
              <a:ext uri="{FF2B5EF4-FFF2-40B4-BE49-F238E27FC236}">
                <a16:creationId xmlns:a16="http://schemas.microsoft.com/office/drawing/2014/main" id="{C7031006-BE67-4059-44BF-7D1F6CD19423}"/>
              </a:ext>
            </a:extLst>
          </p:cNvPr>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a:extLst>
              <a:ext uri="{FF2B5EF4-FFF2-40B4-BE49-F238E27FC236}">
                <a16:creationId xmlns:a16="http://schemas.microsoft.com/office/drawing/2014/main" id="{28A2F838-6469-CF11-27E1-CEB616C4F0C9}"/>
              </a:ext>
            </a:extLst>
          </p:cNvPr>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10 · Power BI Dashboard</a:t>
            </a:r>
            <a:endParaRPr lang="en-US" sz="900" dirty="0"/>
          </a:p>
        </p:txBody>
      </p:sp>
      <p:sp>
        <p:nvSpPr>
          <p:cNvPr id="6" name="Text 4">
            <a:extLst>
              <a:ext uri="{FF2B5EF4-FFF2-40B4-BE49-F238E27FC236}">
                <a16:creationId xmlns:a16="http://schemas.microsoft.com/office/drawing/2014/main" id="{AC1B11FA-BDBC-67CE-A3D6-04D407AEC248}"/>
              </a:ext>
            </a:extLst>
          </p:cNvPr>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a:extLst>
              <a:ext uri="{FF2B5EF4-FFF2-40B4-BE49-F238E27FC236}">
                <a16:creationId xmlns:a16="http://schemas.microsoft.com/office/drawing/2014/main" id="{D8BE1F6F-491D-2693-F51A-A53F9EC6C469}"/>
              </a:ext>
            </a:extLst>
          </p:cNvPr>
          <p:cNvSpPr/>
          <p:nvPr/>
        </p:nvSpPr>
        <p:spPr>
          <a:xfrm>
            <a:off x="365760" y="714756"/>
            <a:ext cx="8412480" cy="310896"/>
          </a:xfrm>
          <a:prstGeom prst="rect">
            <a:avLst/>
          </a:prstGeom>
          <a:noFill/>
          <a:ln/>
        </p:spPr>
        <p:txBody>
          <a:bodyPr wrap="square" lIns="0" tIns="0" rIns="0" bIns="0" rtlCol="0" anchor="ctr"/>
          <a:lstStyle/>
          <a:p>
            <a:r>
              <a:rPr lang="en-US" sz="2000" b="1" dirty="0">
                <a:solidFill>
                  <a:srgbClr val="1F3A5F"/>
                </a:solidFill>
                <a:latin typeface="Calibri" pitchFamily="34" charset="0"/>
                <a:ea typeface="Calibri" pitchFamily="34" charset="-122"/>
                <a:cs typeface="Calibri" pitchFamily="34" charset="-120"/>
              </a:rPr>
              <a:t>Page 1 - Executive Overview</a:t>
            </a:r>
            <a:endParaRPr lang="en-US" sz="2000" dirty="0"/>
          </a:p>
          <a:p>
            <a:pPr marL="0" indent="0">
              <a:buNone/>
            </a:pPr>
            <a:r>
              <a:rPr lang="en-US" sz="2600" b="1" dirty="0">
                <a:solidFill>
                  <a:srgbClr val="1F3A5F"/>
                </a:solidFill>
                <a:latin typeface="Calibri" pitchFamily="34" charset="0"/>
                <a:ea typeface="Calibri" pitchFamily="34" charset="-122"/>
                <a:cs typeface="Calibri" pitchFamily="34" charset="-120"/>
              </a:rPr>
              <a:t> </a:t>
            </a:r>
            <a:endParaRPr lang="en-US" sz="2600" dirty="0"/>
          </a:p>
        </p:txBody>
      </p:sp>
      <p:sp>
        <p:nvSpPr>
          <p:cNvPr id="11" name="Text 9">
            <a:extLst>
              <a:ext uri="{FF2B5EF4-FFF2-40B4-BE49-F238E27FC236}">
                <a16:creationId xmlns:a16="http://schemas.microsoft.com/office/drawing/2014/main" id="{429FB62C-54A0-6963-FEDA-1B6333AE4B4E}"/>
              </a:ext>
            </a:extLst>
          </p:cNvPr>
          <p:cNvSpPr/>
          <p:nvPr/>
        </p:nvSpPr>
        <p:spPr>
          <a:xfrm>
            <a:off x="274320" y="1344168"/>
            <a:ext cx="27432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Page 1</a:t>
            </a:r>
            <a:endParaRPr lang="en-US" sz="1000" dirty="0"/>
          </a:p>
        </p:txBody>
      </p:sp>
      <p:pic>
        <p:nvPicPr>
          <p:cNvPr id="52" name="Picture 51">
            <a:extLst>
              <a:ext uri="{FF2B5EF4-FFF2-40B4-BE49-F238E27FC236}">
                <a16:creationId xmlns:a16="http://schemas.microsoft.com/office/drawing/2014/main" id="{A99CD127-BD7C-4F43-66CE-E4E309122CA3}"/>
              </a:ext>
            </a:extLst>
          </p:cNvPr>
          <p:cNvPicPr>
            <a:picLocks noChangeAspect="1"/>
          </p:cNvPicPr>
          <p:nvPr/>
        </p:nvPicPr>
        <p:blipFill>
          <a:blip r:embed="rId3"/>
          <a:srcRect t="2001" r="1949" b="17815"/>
          <a:stretch>
            <a:fillRect/>
          </a:stretch>
        </p:blipFill>
        <p:spPr>
          <a:xfrm>
            <a:off x="680997" y="847725"/>
            <a:ext cx="7562890" cy="3895344"/>
          </a:xfrm>
          <a:prstGeom prst="rect">
            <a:avLst/>
          </a:prstGeom>
        </p:spPr>
      </p:pic>
    </p:spTree>
    <p:extLst>
      <p:ext uri="{BB962C8B-B14F-4D97-AF65-F5344CB8AC3E}">
        <p14:creationId xmlns:p14="http://schemas.microsoft.com/office/powerpoint/2010/main" val="3191706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1A2A4-3AB2-0DC8-8AF6-BCCB6D9014A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DC5173-0DB0-F09C-5A0C-EE14BEECC207}"/>
              </a:ext>
            </a:extLst>
          </p:cNvPr>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a:extLst>
              <a:ext uri="{FF2B5EF4-FFF2-40B4-BE49-F238E27FC236}">
                <a16:creationId xmlns:a16="http://schemas.microsoft.com/office/drawing/2014/main" id="{D881839B-D707-EBA0-FD0B-2EADEEFBFA3E}"/>
              </a:ext>
            </a:extLst>
          </p:cNvPr>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a:extLst>
              <a:ext uri="{FF2B5EF4-FFF2-40B4-BE49-F238E27FC236}">
                <a16:creationId xmlns:a16="http://schemas.microsoft.com/office/drawing/2014/main" id="{DE0FEF40-8AD1-CA72-33B9-172FE683C3FC}"/>
              </a:ext>
            </a:extLst>
          </p:cNvPr>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a:extLst>
              <a:ext uri="{FF2B5EF4-FFF2-40B4-BE49-F238E27FC236}">
                <a16:creationId xmlns:a16="http://schemas.microsoft.com/office/drawing/2014/main" id="{B9101BC3-79DE-0CFE-50A5-E6D6AAE69EF4}"/>
              </a:ext>
            </a:extLst>
          </p:cNvPr>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10 · Power BI Dashboard</a:t>
            </a:r>
            <a:endParaRPr lang="en-US" sz="900" dirty="0"/>
          </a:p>
        </p:txBody>
      </p:sp>
      <p:sp>
        <p:nvSpPr>
          <p:cNvPr id="6" name="Text 4">
            <a:extLst>
              <a:ext uri="{FF2B5EF4-FFF2-40B4-BE49-F238E27FC236}">
                <a16:creationId xmlns:a16="http://schemas.microsoft.com/office/drawing/2014/main" id="{EEF4549E-61A3-FE9F-A051-078C8BD3DBDC}"/>
              </a:ext>
            </a:extLst>
          </p:cNvPr>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a:extLst>
              <a:ext uri="{FF2B5EF4-FFF2-40B4-BE49-F238E27FC236}">
                <a16:creationId xmlns:a16="http://schemas.microsoft.com/office/drawing/2014/main" id="{3DC44EAF-049F-D40B-5E15-99D1764C293E}"/>
              </a:ext>
            </a:extLst>
          </p:cNvPr>
          <p:cNvSpPr/>
          <p:nvPr/>
        </p:nvSpPr>
        <p:spPr>
          <a:xfrm>
            <a:off x="365760" y="714756"/>
            <a:ext cx="8412480" cy="310896"/>
          </a:xfrm>
          <a:prstGeom prst="rect">
            <a:avLst/>
          </a:prstGeom>
          <a:noFill/>
          <a:ln/>
        </p:spPr>
        <p:txBody>
          <a:bodyPr wrap="square" lIns="0" tIns="0" rIns="0" bIns="0" rtlCol="0" anchor="ctr"/>
          <a:lstStyle/>
          <a:p>
            <a:r>
              <a:rPr lang="en-US" sz="2000" b="1" dirty="0">
                <a:solidFill>
                  <a:srgbClr val="1F3A5F"/>
                </a:solidFill>
                <a:latin typeface="Calibri" pitchFamily="34" charset="0"/>
                <a:ea typeface="Calibri" pitchFamily="34" charset="-122"/>
                <a:cs typeface="Calibri" pitchFamily="34" charset="-120"/>
              </a:rPr>
              <a:t>Page 2 - Customer Segmentation</a:t>
            </a:r>
            <a:endParaRPr lang="en-US" sz="2000" dirty="0"/>
          </a:p>
          <a:p>
            <a:pPr marL="0" indent="0">
              <a:buNone/>
            </a:pPr>
            <a:r>
              <a:rPr lang="en-US" sz="2600" b="1" dirty="0">
                <a:solidFill>
                  <a:srgbClr val="1F3A5F"/>
                </a:solidFill>
                <a:latin typeface="Calibri" pitchFamily="34" charset="0"/>
                <a:ea typeface="Calibri" pitchFamily="34" charset="-122"/>
                <a:cs typeface="Calibri" pitchFamily="34" charset="-120"/>
              </a:rPr>
              <a:t> </a:t>
            </a:r>
            <a:endParaRPr lang="en-US" sz="2600" dirty="0"/>
          </a:p>
        </p:txBody>
      </p:sp>
      <p:sp>
        <p:nvSpPr>
          <p:cNvPr id="11" name="Text 9">
            <a:extLst>
              <a:ext uri="{FF2B5EF4-FFF2-40B4-BE49-F238E27FC236}">
                <a16:creationId xmlns:a16="http://schemas.microsoft.com/office/drawing/2014/main" id="{71C8A104-696D-86AA-DCA3-4FF1CA4EBC7C}"/>
              </a:ext>
            </a:extLst>
          </p:cNvPr>
          <p:cNvSpPr/>
          <p:nvPr/>
        </p:nvSpPr>
        <p:spPr>
          <a:xfrm>
            <a:off x="274320" y="1344168"/>
            <a:ext cx="27432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Page 1</a:t>
            </a:r>
            <a:endParaRPr lang="en-US" sz="1000" dirty="0"/>
          </a:p>
        </p:txBody>
      </p:sp>
      <p:pic>
        <p:nvPicPr>
          <p:cNvPr id="8" name="Picture 7">
            <a:extLst>
              <a:ext uri="{FF2B5EF4-FFF2-40B4-BE49-F238E27FC236}">
                <a16:creationId xmlns:a16="http://schemas.microsoft.com/office/drawing/2014/main" id="{00224958-E7CC-6B43-973B-256C12DEBFB2}"/>
              </a:ext>
            </a:extLst>
          </p:cNvPr>
          <p:cNvPicPr>
            <a:picLocks noChangeAspect="1"/>
          </p:cNvPicPr>
          <p:nvPr/>
        </p:nvPicPr>
        <p:blipFill>
          <a:blip r:embed="rId3"/>
          <a:srcRect l="1749" t="1971" r="1749" b="11918"/>
          <a:stretch>
            <a:fillRect/>
          </a:stretch>
        </p:blipFill>
        <p:spPr>
          <a:xfrm>
            <a:off x="714375" y="862012"/>
            <a:ext cx="7562850" cy="3984308"/>
          </a:xfrm>
          <a:prstGeom prst="rect">
            <a:avLst/>
          </a:prstGeom>
        </p:spPr>
      </p:pic>
    </p:spTree>
    <p:extLst>
      <p:ext uri="{BB962C8B-B14F-4D97-AF65-F5344CB8AC3E}">
        <p14:creationId xmlns:p14="http://schemas.microsoft.com/office/powerpoint/2010/main" val="1092757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0BA33-B30F-E9AD-76AE-8207D674812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28AC46-86F2-F5B4-2AE6-04A3F886227D}"/>
              </a:ext>
            </a:extLst>
          </p:cNvPr>
          <p:cNvSpPr/>
          <p:nvPr/>
        </p:nvSpPr>
        <p:spPr>
          <a:xfrm>
            <a:off x="0" y="0"/>
            <a:ext cx="9144000" cy="411480"/>
          </a:xfrm>
          <a:prstGeom prst="rect">
            <a:avLst/>
          </a:prstGeom>
          <a:solidFill>
            <a:srgbClr val="1F3A5F"/>
          </a:solidFill>
          <a:ln w="12700">
            <a:solidFill>
              <a:srgbClr val="1F3A5F"/>
            </a:solidFill>
            <a:prstDash val="solid"/>
          </a:ln>
        </p:spPr>
        <p:txBody>
          <a:bodyPr/>
          <a:lstStyle/>
          <a:p>
            <a:endParaRPr lang="en-US"/>
          </a:p>
        </p:txBody>
      </p:sp>
      <p:sp>
        <p:nvSpPr>
          <p:cNvPr id="3" name="Shape 1">
            <a:extLst>
              <a:ext uri="{FF2B5EF4-FFF2-40B4-BE49-F238E27FC236}">
                <a16:creationId xmlns:a16="http://schemas.microsoft.com/office/drawing/2014/main" id="{CD106D73-65EB-6D0D-8878-8197EBB17155}"/>
              </a:ext>
            </a:extLst>
          </p:cNvPr>
          <p:cNvSpPr/>
          <p:nvPr/>
        </p:nvSpPr>
        <p:spPr>
          <a:xfrm>
            <a:off x="0" y="4846320"/>
            <a:ext cx="9144000" cy="297180"/>
          </a:xfrm>
          <a:prstGeom prst="rect">
            <a:avLst/>
          </a:prstGeom>
          <a:solidFill>
            <a:srgbClr val="D6E4F7"/>
          </a:solidFill>
          <a:ln w="12700">
            <a:solidFill>
              <a:srgbClr val="D6E4F7"/>
            </a:solidFill>
            <a:prstDash val="solid"/>
          </a:ln>
        </p:spPr>
        <p:txBody>
          <a:bodyPr/>
          <a:lstStyle/>
          <a:p>
            <a:endParaRPr lang="en-US"/>
          </a:p>
        </p:txBody>
      </p:sp>
      <p:sp>
        <p:nvSpPr>
          <p:cNvPr id="4" name="Text 2">
            <a:extLst>
              <a:ext uri="{FF2B5EF4-FFF2-40B4-BE49-F238E27FC236}">
                <a16:creationId xmlns:a16="http://schemas.microsoft.com/office/drawing/2014/main" id="{6B2E4AB5-80A4-76E0-6651-98921F0548DB}"/>
              </a:ext>
            </a:extLst>
          </p:cNvPr>
          <p:cNvSpPr/>
          <p:nvPr/>
        </p:nvSpPr>
        <p:spPr>
          <a:xfrm>
            <a:off x="228600" y="0"/>
            <a:ext cx="6400800" cy="411480"/>
          </a:xfrm>
          <a:prstGeom prst="rect">
            <a:avLst/>
          </a:prstGeom>
          <a:noFill/>
          <a:ln/>
        </p:spPr>
        <p:txBody>
          <a:bodyPr wrap="square" lIns="0" tIns="0" rIns="0" bIns="0" rtlCol="0" anchor="ctr"/>
          <a:lstStyle/>
          <a:p>
            <a:pPr marL="0" indent="0">
              <a:buNone/>
            </a:pPr>
            <a:r>
              <a:rPr lang="en-US" sz="900" dirty="0">
                <a:solidFill>
                  <a:srgbClr val="A8C4E0"/>
                </a:solidFill>
                <a:latin typeface="Calibri" pitchFamily="34" charset="0"/>
                <a:ea typeface="Calibri" pitchFamily="34" charset="-122"/>
                <a:cs typeface="Calibri" pitchFamily="34" charset="-120"/>
              </a:rPr>
              <a:t>DSAI 4103  ·  Customer Churn Prediction</a:t>
            </a:r>
            <a:endParaRPr lang="en-US" sz="900" dirty="0"/>
          </a:p>
        </p:txBody>
      </p:sp>
      <p:sp>
        <p:nvSpPr>
          <p:cNvPr id="5" name="Text 3">
            <a:extLst>
              <a:ext uri="{FF2B5EF4-FFF2-40B4-BE49-F238E27FC236}">
                <a16:creationId xmlns:a16="http://schemas.microsoft.com/office/drawing/2014/main" id="{138533C8-E1A4-F8A0-D8ED-C89812866A5F}"/>
              </a:ext>
            </a:extLst>
          </p:cNvPr>
          <p:cNvSpPr/>
          <p:nvPr/>
        </p:nvSpPr>
        <p:spPr>
          <a:xfrm>
            <a:off x="5943600" y="0"/>
            <a:ext cx="2971800" cy="41148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Section 10 · Power BI Dashboard</a:t>
            </a:r>
            <a:endParaRPr lang="en-US" sz="900" dirty="0"/>
          </a:p>
        </p:txBody>
      </p:sp>
      <p:sp>
        <p:nvSpPr>
          <p:cNvPr id="6" name="Text 4">
            <a:extLst>
              <a:ext uri="{FF2B5EF4-FFF2-40B4-BE49-F238E27FC236}">
                <a16:creationId xmlns:a16="http://schemas.microsoft.com/office/drawing/2014/main" id="{40C5997D-FE4E-D262-174E-472D42E30F96}"/>
              </a:ext>
            </a:extLst>
          </p:cNvPr>
          <p:cNvSpPr/>
          <p:nvPr/>
        </p:nvSpPr>
        <p:spPr>
          <a:xfrm>
            <a:off x="228600" y="4846320"/>
            <a:ext cx="7315200" cy="297180"/>
          </a:xfrm>
          <a:prstGeom prst="rect">
            <a:avLst/>
          </a:prstGeom>
          <a:noFill/>
          <a:ln/>
        </p:spPr>
        <p:txBody>
          <a:bodyPr wrap="square" lIns="0" tIns="0" rIns="0" bIns="0" rtlCol="0" anchor="ctr"/>
          <a:lstStyle/>
          <a:p>
            <a:pPr marL="0" indent="0">
              <a:buNone/>
            </a:pPr>
            <a:r>
              <a:rPr lang="en-US" sz="800" dirty="0">
                <a:solidFill>
                  <a:srgbClr val="4B5E78"/>
                </a:solidFill>
                <a:latin typeface="Calibri" pitchFamily="34" charset="0"/>
                <a:ea typeface="Calibri" pitchFamily="34" charset="-122"/>
                <a:cs typeface="Calibri" pitchFamily="34" charset="-120"/>
              </a:rPr>
              <a:t>End-to-End ML Pipeline  |  Marketing / Customer Analytics</a:t>
            </a:r>
            <a:endParaRPr lang="en-US" sz="800" dirty="0"/>
          </a:p>
        </p:txBody>
      </p:sp>
      <p:sp>
        <p:nvSpPr>
          <p:cNvPr id="7" name="Text 5">
            <a:extLst>
              <a:ext uri="{FF2B5EF4-FFF2-40B4-BE49-F238E27FC236}">
                <a16:creationId xmlns:a16="http://schemas.microsoft.com/office/drawing/2014/main" id="{A4F15E6F-6AAD-EA3A-0250-01323301D8E5}"/>
              </a:ext>
            </a:extLst>
          </p:cNvPr>
          <p:cNvSpPr/>
          <p:nvPr/>
        </p:nvSpPr>
        <p:spPr>
          <a:xfrm>
            <a:off x="365760" y="714756"/>
            <a:ext cx="8412480" cy="310896"/>
          </a:xfrm>
          <a:prstGeom prst="rect">
            <a:avLst/>
          </a:prstGeom>
          <a:noFill/>
          <a:ln/>
        </p:spPr>
        <p:txBody>
          <a:bodyPr wrap="square" lIns="0" tIns="0" rIns="0" bIns="0" rtlCol="0" anchor="ctr"/>
          <a:lstStyle/>
          <a:p>
            <a:r>
              <a:rPr lang="en-US" sz="2000" b="1" dirty="0">
                <a:solidFill>
                  <a:srgbClr val="1F3A5F"/>
                </a:solidFill>
                <a:latin typeface="Calibri" pitchFamily="34" charset="0"/>
                <a:ea typeface="Calibri" pitchFamily="34" charset="-122"/>
                <a:cs typeface="Calibri" pitchFamily="34" charset="-120"/>
              </a:rPr>
              <a:t>Page 3 - ML Model Insights</a:t>
            </a:r>
            <a:endParaRPr lang="en-US" sz="2000" dirty="0"/>
          </a:p>
          <a:p>
            <a:pPr marL="0" indent="0">
              <a:buNone/>
            </a:pPr>
            <a:r>
              <a:rPr lang="en-US" sz="2600" b="1" dirty="0">
                <a:solidFill>
                  <a:srgbClr val="1F3A5F"/>
                </a:solidFill>
                <a:latin typeface="Calibri" pitchFamily="34" charset="0"/>
                <a:ea typeface="Calibri" pitchFamily="34" charset="-122"/>
                <a:cs typeface="Calibri" pitchFamily="34" charset="-120"/>
              </a:rPr>
              <a:t> </a:t>
            </a:r>
            <a:endParaRPr lang="en-US" sz="2600" dirty="0"/>
          </a:p>
        </p:txBody>
      </p:sp>
      <p:sp>
        <p:nvSpPr>
          <p:cNvPr id="11" name="Text 9">
            <a:extLst>
              <a:ext uri="{FF2B5EF4-FFF2-40B4-BE49-F238E27FC236}">
                <a16:creationId xmlns:a16="http://schemas.microsoft.com/office/drawing/2014/main" id="{A549210F-9369-480B-30F9-3E9BF4E6F4BC}"/>
              </a:ext>
            </a:extLst>
          </p:cNvPr>
          <p:cNvSpPr/>
          <p:nvPr/>
        </p:nvSpPr>
        <p:spPr>
          <a:xfrm>
            <a:off x="274320" y="1344168"/>
            <a:ext cx="27432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Page 1</a:t>
            </a:r>
            <a:endParaRPr lang="en-US" sz="1000" dirty="0"/>
          </a:p>
        </p:txBody>
      </p:sp>
      <p:pic>
        <p:nvPicPr>
          <p:cNvPr id="8" name="Picture 7">
            <a:extLst>
              <a:ext uri="{FF2B5EF4-FFF2-40B4-BE49-F238E27FC236}">
                <a16:creationId xmlns:a16="http://schemas.microsoft.com/office/drawing/2014/main" id="{C517D59C-EDE6-E3D0-F943-CD41AFDCBBB7}"/>
              </a:ext>
            </a:extLst>
          </p:cNvPr>
          <p:cNvPicPr>
            <a:picLocks noChangeAspect="1"/>
          </p:cNvPicPr>
          <p:nvPr/>
        </p:nvPicPr>
        <p:blipFill>
          <a:blip r:embed="rId3"/>
          <a:srcRect l="-4008" t="774" r="449" b="12463"/>
          <a:stretch>
            <a:fillRect/>
          </a:stretch>
        </p:blipFill>
        <p:spPr>
          <a:xfrm>
            <a:off x="322897" y="800100"/>
            <a:ext cx="8121869" cy="4002976"/>
          </a:xfrm>
          <a:prstGeom prst="rect">
            <a:avLst/>
          </a:prstGeom>
        </p:spPr>
      </p:pic>
    </p:spTree>
    <p:extLst>
      <p:ext uri="{BB962C8B-B14F-4D97-AF65-F5344CB8AC3E}">
        <p14:creationId xmlns:p14="http://schemas.microsoft.com/office/powerpoint/2010/main" val="1326376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1F3A5F"/>
        </a:solidFill>
        <a:effectLst/>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2E75B6">
              <a:alpha val="35000"/>
            </a:srgbClr>
          </a:solidFill>
          <a:ln w="12700">
            <a:solidFill>
              <a:srgbClr val="2E75B6">
                <a:alpha val="35000"/>
              </a:srgbClr>
            </a:solidFill>
            <a:prstDash val="solid"/>
          </a:ln>
        </p:spPr>
        <p:txBody>
          <a:bodyPr/>
          <a:lstStyle/>
          <a:p>
            <a:endParaRPr lang="en-US"/>
          </a:p>
        </p:txBody>
      </p:sp>
      <p:sp>
        <p:nvSpPr>
          <p:cNvPr id="3" name="Text 1"/>
          <p:cNvSpPr/>
          <p:nvPr/>
        </p:nvSpPr>
        <p:spPr>
          <a:xfrm>
            <a:off x="548640" y="457200"/>
            <a:ext cx="5943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Conclusions &amp; Recommendations</a:t>
            </a:r>
            <a:endParaRPr lang="en-US" sz="2800" dirty="0"/>
          </a:p>
        </p:txBody>
      </p:sp>
      <p:sp>
        <p:nvSpPr>
          <p:cNvPr id="4" name="Shape 2"/>
          <p:cNvSpPr/>
          <p:nvPr/>
        </p:nvSpPr>
        <p:spPr>
          <a:xfrm>
            <a:off x="548640" y="1170432"/>
            <a:ext cx="5943600" cy="603504"/>
          </a:xfrm>
          <a:prstGeom prst="rect">
            <a:avLst/>
          </a:prstGeom>
          <a:solidFill>
            <a:srgbClr val="FFFFFF">
              <a:alpha val="10000"/>
            </a:srgbClr>
          </a:solidFill>
          <a:ln w="12700">
            <a:solidFill>
              <a:srgbClr val="CADCFC">
                <a:alpha val="30000"/>
              </a:srgbClr>
            </a:solidFill>
            <a:prstDash val="solid"/>
          </a:ln>
        </p:spPr>
        <p:txBody>
          <a:bodyPr/>
          <a:lstStyle/>
          <a:p>
            <a:endParaRPr lang="en-US"/>
          </a:p>
        </p:txBody>
      </p:sp>
      <p:sp>
        <p:nvSpPr>
          <p:cNvPr id="5" name="Shape 3"/>
          <p:cNvSpPr/>
          <p:nvPr/>
        </p:nvSpPr>
        <p:spPr>
          <a:xfrm>
            <a:off x="548640" y="1170432"/>
            <a:ext cx="54864" cy="603504"/>
          </a:xfrm>
          <a:prstGeom prst="rect">
            <a:avLst/>
          </a:prstGeom>
          <a:solidFill>
            <a:srgbClr val="7EB8E8"/>
          </a:solidFill>
          <a:ln w="12700">
            <a:solidFill>
              <a:srgbClr val="7EB8E8"/>
            </a:solidFill>
            <a:prstDash val="solid"/>
          </a:ln>
        </p:spPr>
        <p:txBody>
          <a:bodyPr/>
          <a:lstStyle/>
          <a:p>
            <a:endParaRPr lang="en-US"/>
          </a:p>
        </p:txBody>
      </p:sp>
      <p:sp>
        <p:nvSpPr>
          <p:cNvPr id="6" name="Text 4"/>
          <p:cNvSpPr/>
          <p:nvPr/>
        </p:nvSpPr>
        <p:spPr>
          <a:xfrm>
            <a:off x="713232" y="1216152"/>
            <a:ext cx="5669280" cy="237744"/>
          </a:xfrm>
          <a:prstGeom prst="rect">
            <a:avLst/>
          </a:prstGeom>
          <a:noFill/>
          <a:ln/>
        </p:spPr>
        <p:txBody>
          <a:bodyPr wrap="square" lIns="0" tIns="0" rIns="0" bIns="0" rtlCol="0" anchor="ctr"/>
          <a:lstStyle/>
          <a:p>
            <a:pPr marL="0" indent="0">
              <a:buNone/>
            </a:pPr>
            <a:r>
              <a:rPr lang="en-US" sz="1100" b="1" dirty="0">
                <a:solidFill>
                  <a:srgbClr val="7EB8E8"/>
                </a:solidFill>
                <a:latin typeface="Calibri" pitchFamily="34" charset="0"/>
                <a:ea typeface="Calibri" pitchFamily="34" charset="-122"/>
                <a:cs typeface="Calibri" pitchFamily="34" charset="-120"/>
              </a:rPr>
              <a:t>Model Performance</a:t>
            </a:r>
            <a:endParaRPr lang="en-US" sz="1100" dirty="0"/>
          </a:p>
        </p:txBody>
      </p:sp>
      <p:sp>
        <p:nvSpPr>
          <p:cNvPr id="7" name="Text 5"/>
          <p:cNvSpPr/>
          <p:nvPr/>
        </p:nvSpPr>
        <p:spPr>
          <a:xfrm>
            <a:off x="713232" y="1463040"/>
            <a:ext cx="5669280" cy="274320"/>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Stacking Ensemble achieved AUC = 0.897 and F1 = 0.723, exceeding all target thresholds.</a:t>
            </a:r>
            <a:endParaRPr lang="en-US" sz="950" dirty="0"/>
          </a:p>
        </p:txBody>
      </p:sp>
      <p:sp>
        <p:nvSpPr>
          <p:cNvPr id="8" name="Shape 6"/>
          <p:cNvSpPr/>
          <p:nvPr/>
        </p:nvSpPr>
        <p:spPr>
          <a:xfrm>
            <a:off x="548640" y="1874520"/>
            <a:ext cx="5943600" cy="603504"/>
          </a:xfrm>
          <a:prstGeom prst="rect">
            <a:avLst/>
          </a:prstGeom>
          <a:solidFill>
            <a:srgbClr val="FFFFFF">
              <a:alpha val="10000"/>
            </a:srgbClr>
          </a:solidFill>
          <a:ln w="12700">
            <a:solidFill>
              <a:srgbClr val="CADCFC">
                <a:alpha val="30000"/>
              </a:srgbClr>
            </a:solidFill>
            <a:prstDash val="solid"/>
          </a:ln>
        </p:spPr>
        <p:txBody>
          <a:bodyPr/>
          <a:lstStyle/>
          <a:p>
            <a:endParaRPr lang="en-US"/>
          </a:p>
        </p:txBody>
      </p:sp>
      <p:sp>
        <p:nvSpPr>
          <p:cNvPr id="9" name="Shape 7"/>
          <p:cNvSpPr/>
          <p:nvPr/>
        </p:nvSpPr>
        <p:spPr>
          <a:xfrm>
            <a:off x="548640" y="1874520"/>
            <a:ext cx="54864" cy="603504"/>
          </a:xfrm>
          <a:prstGeom prst="rect">
            <a:avLst/>
          </a:prstGeom>
          <a:solidFill>
            <a:srgbClr val="7EB8E8"/>
          </a:solidFill>
          <a:ln w="12700">
            <a:solidFill>
              <a:srgbClr val="7EB8E8"/>
            </a:solidFill>
            <a:prstDash val="solid"/>
          </a:ln>
        </p:spPr>
        <p:txBody>
          <a:bodyPr/>
          <a:lstStyle/>
          <a:p>
            <a:endParaRPr lang="en-US"/>
          </a:p>
        </p:txBody>
      </p:sp>
      <p:sp>
        <p:nvSpPr>
          <p:cNvPr id="10" name="Text 8"/>
          <p:cNvSpPr/>
          <p:nvPr/>
        </p:nvSpPr>
        <p:spPr>
          <a:xfrm>
            <a:off x="713232" y="1920240"/>
            <a:ext cx="5669280" cy="237744"/>
          </a:xfrm>
          <a:prstGeom prst="rect">
            <a:avLst/>
          </a:prstGeom>
          <a:noFill/>
          <a:ln/>
        </p:spPr>
        <p:txBody>
          <a:bodyPr wrap="square" lIns="0" tIns="0" rIns="0" bIns="0" rtlCol="0" anchor="ctr"/>
          <a:lstStyle/>
          <a:p>
            <a:pPr marL="0" indent="0">
              <a:buNone/>
            </a:pPr>
            <a:r>
              <a:rPr lang="en-US" sz="1100" b="1" dirty="0">
                <a:solidFill>
                  <a:srgbClr val="7EB8E8"/>
                </a:solidFill>
                <a:latin typeface="Calibri" pitchFamily="34" charset="0"/>
                <a:ea typeface="Calibri" pitchFamily="34" charset="-122"/>
                <a:cs typeface="Calibri" pitchFamily="34" charset="-120"/>
              </a:rPr>
              <a:t>Key Business Insight</a:t>
            </a:r>
            <a:endParaRPr lang="en-US" sz="1100" dirty="0"/>
          </a:p>
        </p:txBody>
      </p:sp>
      <p:sp>
        <p:nvSpPr>
          <p:cNvPr id="11" name="Text 9"/>
          <p:cNvSpPr/>
          <p:nvPr/>
        </p:nvSpPr>
        <p:spPr>
          <a:xfrm>
            <a:off x="713232" y="2167128"/>
            <a:ext cx="5669280" cy="274320"/>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Month-to-month contracts + high complaints + Fiber Optic are the top 3 churn predictors. Focus retention budget here.</a:t>
            </a:r>
            <a:endParaRPr lang="en-US" sz="950" dirty="0"/>
          </a:p>
        </p:txBody>
      </p:sp>
      <p:sp>
        <p:nvSpPr>
          <p:cNvPr id="12" name="Shape 10"/>
          <p:cNvSpPr/>
          <p:nvPr/>
        </p:nvSpPr>
        <p:spPr>
          <a:xfrm>
            <a:off x="548640" y="2578608"/>
            <a:ext cx="5943600" cy="603504"/>
          </a:xfrm>
          <a:prstGeom prst="rect">
            <a:avLst/>
          </a:prstGeom>
          <a:solidFill>
            <a:srgbClr val="FFFFFF">
              <a:alpha val="10000"/>
            </a:srgbClr>
          </a:solidFill>
          <a:ln w="12700">
            <a:solidFill>
              <a:srgbClr val="CADCFC">
                <a:alpha val="30000"/>
              </a:srgbClr>
            </a:solidFill>
            <a:prstDash val="solid"/>
          </a:ln>
        </p:spPr>
        <p:txBody>
          <a:bodyPr/>
          <a:lstStyle/>
          <a:p>
            <a:endParaRPr lang="en-US"/>
          </a:p>
        </p:txBody>
      </p:sp>
      <p:sp>
        <p:nvSpPr>
          <p:cNvPr id="13" name="Shape 11"/>
          <p:cNvSpPr/>
          <p:nvPr/>
        </p:nvSpPr>
        <p:spPr>
          <a:xfrm>
            <a:off x="548640" y="2578608"/>
            <a:ext cx="54864" cy="603504"/>
          </a:xfrm>
          <a:prstGeom prst="rect">
            <a:avLst/>
          </a:prstGeom>
          <a:solidFill>
            <a:srgbClr val="7EB8E8"/>
          </a:solidFill>
          <a:ln w="12700">
            <a:solidFill>
              <a:srgbClr val="7EB8E8"/>
            </a:solidFill>
            <a:prstDash val="solid"/>
          </a:ln>
        </p:spPr>
        <p:txBody>
          <a:bodyPr/>
          <a:lstStyle/>
          <a:p>
            <a:endParaRPr lang="en-US"/>
          </a:p>
        </p:txBody>
      </p:sp>
      <p:sp>
        <p:nvSpPr>
          <p:cNvPr id="14" name="Text 12"/>
          <p:cNvSpPr/>
          <p:nvPr/>
        </p:nvSpPr>
        <p:spPr>
          <a:xfrm>
            <a:off x="713232" y="2624328"/>
            <a:ext cx="5669280" cy="237744"/>
          </a:xfrm>
          <a:prstGeom prst="rect">
            <a:avLst/>
          </a:prstGeom>
          <a:noFill/>
          <a:ln/>
        </p:spPr>
        <p:txBody>
          <a:bodyPr wrap="square" lIns="0" tIns="0" rIns="0" bIns="0" rtlCol="0" anchor="ctr"/>
          <a:lstStyle/>
          <a:p>
            <a:pPr marL="0" indent="0">
              <a:buNone/>
            </a:pPr>
            <a:r>
              <a:rPr lang="en-US" sz="1100" b="1" dirty="0">
                <a:solidFill>
                  <a:srgbClr val="7EB8E8"/>
                </a:solidFill>
                <a:latin typeface="Calibri" pitchFamily="34" charset="0"/>
                <a:ea typeface="Calibri" pitchFamily="34" charset="-122"/>
                <a:cs typeface="Calibri" pitchFamily="34" charset="-120"/>
              </a:rPr>
              <a:t>Fairness</a:t>
            </a:r>
            <a:endParaRPr lang="en-US" sz="1100" dirty="0"/>
          </a:p>
        </p:txBody>
      </p:sp>
      <p:sp>
        <p:nvSpPr>
          <p:cNvPr id="15" name="Text 13"/>
          <p:cNvSpPr/>
          <p:nvPr/>
        </p:nvSpPr>
        <p:spPr>
          <a:xfrm>
            <a:off x="713232" y="2871216"/>
            <a:ext cx="5669280" cy="274320"/>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Demographic Parity Difference &lt; 0.002 for gender — model is equitable across all analyzed groups.</a:t>
            </a:r>
            <a:endParaRPr lang="en-US" sz="950" dirty="0"/>
          </a:p>
        </p:txBody>
      </p:sp>
      <p:sp>
        <p:nvSpPr>
          <p:cNvPr id="16" name="Shape 14"/>
          <p:cNvSpPr/>
          <p:nvPr/>
        </p:nvSpPr>
        <p:spPr>
          <a:xfrm>
            <a:off x="548640" y="3282696"/>
            <a:ext cx="5943600" cy="603504"/>
          </a:xfrm>
          <a:prstGeom prst="rect">
            <a:avLst/>
          </a:prstGeom>
          <a:solidFill>
            <a:srgbClr val="FFFFFF">
              <a:alpha val="10000"/>
            </a:srgbClr>
          </a:solidFill>
          <a:ln w="12700">
            <a:solidFill>
              <a:srgbClr val="CADCFC">
                <a:alpha val="30000"/>
              </a:srgbClr>
            </a:solidFill>
            <a:prstDash val="solid"/>
          </a:ln>
        </p:spPr>
        <p:txBody>
          <a:bodyPr/>
          <a:lstStyle/>
          <a:p>
            <a:endParaRPr lang="en-US"/>
          </a:p>
        </p:txBody>
      </p:sp>
      <p:sp>
        <p:nvSpPr>
          <p:cNvPr id="17" name="Shape 15"/>
          <p:cNvSpPr/>
          <p:nvPr/>
        </p:nvSpPr>
        <p:spPr>
          <a:xfrm>
            <a:off x="548640" y="3282696"/>
            <a:ext cx="54864" cy="603504"/>
          </a:xfrm>
          <a:prstGeom prst="rect">
            <a:avLst/>
          </a:prstGeom>
          <a:solidFill>
            <a:srgbClr val="7EB8E8"/>
          </a:solidFill>
          <a:ln w="12700">
            <a:solidFill>
              <a:srgbClr val="7EB8E8"/>
            </a:solidFill>
            <a:prstDash val="solid"/>
          </a:ln>
        </p:spPr>
        <p:txBody>
          <a:bodyPr/>
          <a:lstStyle/>
          <a:p>
            <a:endParaRPr lang="en-US"/>
          </a:p>
        </p:txBody>
      </p:sp>
      <p:sp>
        <p:nvSpPr>
          <p:cNvPr id="18" name="Text 16"/>
          <p:cNvSpPr/>
          <p:nvPr/>
        </p:nvSpPr>
        <p:spPr>
          <a:xfrm>
            <a:off x="713232" y="3328416"/>
            <a:ext cx="5669280" cy="237744"/>
          </a:xfrm>
          <a:prstGeom prst="rect">
            <a:avLst/>
          </a:prstGeom>
          <a:noFill/>
          <a:ln/>
        </p:spPr>
        <p:txBody>
          <a:bodyPr wrap="square" lIns="0" tIns="0" rIns="0" bIns="0" rtlCol="0" anchor="ctr"/>
          <a:lstStyle/>
          <a:p>
            <a:pPr marL="0" indent="0">
              <a:buNone/>
            </a:pPr>
            <a:r>
              <a:rPr lang="en-US" sz="1100" b="1" dirty="0">
                <a:solidFill>
                  <a:srgbClr val="7EB8E8"/>
                </a:solidFill>
                <a:latin typeface="Calibri" pitchFamily="34" charset="0"/>
                <a:ea typeface="Calibri" pitchFamily="34" charset="-122"/>
                <a:cs typeface="Calibri" pitchFamily="34" charset="-120"/>
              </a:rPr>
              <a:t>Deployment Ready</a:t>
            </a:r>
            <a:endParaRPr lang="en-US" sz="1100" dirty="0"/>
          </a:p>
        </p:txBody>
      </p:sp>
      <p:sp>
        <p:nvSpPr>
          <p:cNvPr id="19" name="Text 17"/>
          <p:cNvSpPr/>
          <p:nvPr/>
        </p:nvSpPr>
        <p:spPr>
          <a:xfrm>
            <a:off x="713232" y="3575304"/>
            <a:ext cx="5669280" cy="274320"/>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Scoring script accepts any new customer CSV and outputs risk tier (Low / Medium / High) instantly.</a:t>
            </a:r>
            <a:endParaRPr lang="en-US" sz="950" dirty="0"/>
          </a:p>
        </p:txBody>
      </p:sp>
      <p:sp>
        <p:nvSpPr>
          <p:cNvPr id="20" name="Shape 18"/>
          <p:cNvSpPr/>
          <p:nvPr/>
        </p:nvSpPr>
        <p:spPr>
          <a:xfrm>
            <a:off x="548640" y="3986784"/>
            <a:ext cx="5943600" cy="603504"/>
          </a:xfrm>
          <a:prstGeom prst="rect">
            <a:avLst/>
          </a:prstGeom>
          <a:solidFill>
            <a:srgbClr val="FFFFFF">
              <a:alpha val="10000"/>
            </a:srgbClr>
          </a:solidFill>
          <a:ln w="12700">
            <a:solidFill>
              <a:srgbClr val="CADCFC">
                <a:alpha val="30000"/>
              </a:srgbClr>
            </a:solidFill>
            <a:prstDash val="solid"/>
          </a:ln>
        </p:spPr>
        <p:txBody>
          <a:bodyPr/>
          <a:lstStyle/>
          <a:p>
            <a:endParaRPr lang="en-US"/>
          </a:p>
        </p:txBody>
      </p:sp>
      <p:sp>
        <p:nvSpPr>
          <p:cNvPr id="21" name="Shape 19"/>
          <p:cNvSpPr/>
          <p:nvPr/>
        </p:nvSpPr>
        <p:spPr>
          <a:xfrm>
            <a:off x="548640" y="3986784"/>
            <a:ext cx="54864" cy="603504"/>
          </a:xfrm>
          <a:prstGeom prst="rect">
            <a:avLst/>
          </a:prstGeom>
          <a:solidFill>
            <a:srgbClr val="7EB8E8"/>
          </a:solidFill>
          <a:ln w="12700">
            <a:solidFill>
              <a:srgbClr val="7EB8E8"/>
            </a:solidFill>
            <a:prstDash val="solid"/>
          </a:ln>
        </p:spPr>
        <p:txBody>
          <a:bodyPr/>
          <a:lstStyle/>
          <a:p>
            <a:endParaRPr lang="en-US"/>
          </a:p>
        </p:txBody>
      </p:sp>
      <p:sp>
        <p:nvSpPr>
          <p:cNvPr id="22" name="Text 20"/>
          <p:cNvSpPr/>
          <p:nvPr/>
        </p:nvSpPr>
        <p:spPr>
          <a:xfrm>
            <a:off x="713232" y="4032504"/>
            <a:ext cx="5669280" cy="237744"/>
          </a:xfrm>
          <a:prstGeom prst="rect">
            <a:avLst/>
          </a:prstGeom>
          <a:noFill/>
          <a:ln/>
        </p:spPr>
        <p:txBody>
          <a:bodyPr wrap="square" lIns="0" tIns="0" rIns="0" bIns="0" rtlCol="0" anchor="ctr"/>
          <a:lstStyle/>
          <a:p>
            <a:pPr marL="0" indent="0">
              <a:buNone/>
            </a:pPr>
            <a:r>
              <a:rPr lang="en-US" sz="1100" b="1" dirty="0">
                <a:solidFill>
                  <a:srgbClr val="7EB8E8"/>
                </a:solidFill>
                <a:latin typeface="Calibri" pitchFamily="34" charset="0"/>
                <a:ea typeface="Calibri" pitchFamily="34" charset="-122"/>
                <a:cs typeface="Calibri" pitchFamily="34" charset="-120"/>
              </a:rPr>
              <a:t>Dashboard</a:t>
            </a:r>
            <a:endParaRPr lang="en-US" sz="1100" dirty="0"/>
          </a:p>
        </p:txBody>
      </p:sp>
      <p:sp>
        <p:nvSpPr>
          <p:cNvPr id="23" name="Text 21"/>
          <p:cNvSpPr/>
          <p:nvPr/>
        </p:nvSpPr>
        <p:spPr>
          <a:xfrm>
            <a:off x="713232" y="4279392"/>
            <a:ext cx="5669280" cy="274320"/>
          </a:xfrm>
          <a:prstGeom prst="rect">
            <a:avLst/>
          </a:prstGeom>
          <a:noFill/>
          <a:ln/>
        </p:spPr>
        <p:txBody>
          <a:bodyPr wrap="square" lIns="0" tIns="0" rIns="0" bIns="0"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3 Tableau dashboards with 4 interactive filters each allow stakeholders to explore churn drivers dynamically.</a:t>
            </a:r>
            <a:endParaRPr lang="en-US" sz="950" dirty="0"/>
          </a:p>
        </p:txBody>
      </p:sp>
      <p:sp>
        <p:nvSpPr>
          <p:cNvPr id="24" name="Text 22"/>
          <p:cNvSpPr/>
          <p:nvPr/>
        </p:nvSpPr>
        <p:spPr>
          <a:xfrm>
            <a:off x="548640" y="4617720"/>
            <a:ext cx="2743200" cy="32004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Thank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2169</TotalTime>
  <Words>1550</Words>
  <Application>Microsoft Office PowerPoint</Application>
  <PresentationFormat>On-screen Show (16:9)</PresentationFormat>
  <Paragraphs>276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 DSAI 4103</dc:title>
  <dc:subject>End-to-End Business Analytics &amp; Machine Learning Pipeline</dc:subject>
  <dc:creator>DSAI 4103 Student</dc:creator>
  <cp:lastModifiedBy>Lenovo</cp:lastModifiedBy>
  <cp:revision>5</cp:revision>
  <dcterms:created xsi:type="dcterms:W3CDTF">2026-03-17T19:36:32Z</dcterms:created>
  <dcterms:modified xsi:type="dcterms:W3CDTF">2026-04-04T19:59:15Z</dcterms:modified>
</cp:coreProperties>
</file>